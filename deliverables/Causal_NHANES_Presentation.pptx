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96"/>
    <a:srgbClr val="D9E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2887" autoAdjust="0"/>
  </p:normalViewPr>
  <p:slideViewPr>
    <p:cSldViewPr snapToGrid="0" showGuides="1">
      <p:cViewPr varScale="1">
        <p:scale>
          <a:sx n="49" d="100"/>
          <a:sy n="49" d="100"/>
        </p:scale>
        <p:origin x="672" y="48"/>
      </p:cViewPr>
      <p:guideLst>
        <p:guide orient="horz" pos="2160"/>
        <p:guide pos="3840"/>
      </p:guideLst>
    </p:cSldViewPr>
  </p:slideViewPr>
  <p:notesTextViewPr>
    <p:cViewPr>
      <p:scale>
        <a:sx n="1" d="1"/>
        <a:sy n="1" d="1"/>
      </p:scale>
      <p:origin x="0" y="0"/>
    </p:cViewPr>
  </p:notesTextViewPr>
  <p:notesViewPr>
    <p:cSldViewPr snapToGrid="0" showGuides="1">
      <p:cViewPr varScale="1">
        <p:scale>
          <a:sx n="112" d="100"/>
          <a:sy n="112" d="100"/>
        </p:scale>
        <p:origin x="4773" y="3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a:solidFill>
                  <a:srgbClr val="17324D"/>
                </a:solidFill>
              </a:defRPr>
            </a:pPr>
            <a:r>
              <a:rPr lang="en-GB" sz="1600"/>
              <a:t>Manual ATEs on BMI</a:t>
            </a:r>
          </a:p>
        </c:rich>
      </c:tx>
      <c:overlay val="0"/>
    </c:title>
    <c:autoTitleDeleted val="0"/>
    <c:plotArea>
      <c:layout/>
      <c:barChart>
        <c:barDir val="bar"/>
        <c:grouping val="clustered"/>
        <c:varyColors val="1"/>
        <c:ser>
          <c:idx val="0"/>
          <c:order val="0"/>
          <c:tx>
            <c:strRef>
              <c:f>Sheet1!$B$1</c:f>
              <c:strCache>
                <c:ptCount val="1"/>
                <c:pt idx="0">
                  <c:v>Manual ATE</c:v>
                </c:pt>
              </c:strCache>
            </c:strRef>
          </c:tx>
          <c:invertIfNegative val="1"/>
          <c:cat>
            <c:strRef>
              <c:f>Sheet1!$A$2:$A$5</c:f>
              <c:strCache>
                <c:ptCount val="4"/>
                <c:pt idx="0">
                  <c:v>Vigorous
activity</c:v>
                </c:pt>
                <c:pt idx="1">
                  <c:v>Calories
(+100 kcal)</c:v>
                </c:pt>
                <c:pt idx="2">
                  <c:v>Protein
(+10 g)</c:v>
                </c:pt>
                <c:pt idx="3">
                  <c:v>Carbs
(+10 g)</c:v>
                </c:pt>
              </c:strCache>
            </c:strRef>
          </c:cat>
          <c:val>
            <c:numRef>
              <c:f>Sheet1!$B$2:$B$5</c:f>
              <c:numCache>
                <c:formatCode>General</c:formatCode>
                <c:ptCount val="4"/>
                <c:pt idx="0">
                  <c:v>-1.696</c:v>
                </c:pt>
                <c:pt idx="1">
                  <c:v>3.1600000000000003E-2</c:v>
                </c:pt>
                <c:pt idx="2">
                  <c:v>4.4600000000000001E-2</c:v>
                </c:pt>
                <c:pt idx="3">
                  <c:v>-3.49E-2</c:v>
                </c:pt>
              </c:numCache>
            </c:numRef>
          </c:val>
          <c:extLst>
            <c:ext xmlns:c16="http://schemas.microsoft.com/office/drawing/2014/chart" uri="{C3380CC4-5D6E-409C-BE32-E72D297353CC}">
              <c16:uniqueId val="{00000000-9E5C-4E21-B158-A5F08686C4F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CH"/>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CH"/>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03.07.2026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03.07.2026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3312000"/>
          </a:xfrm>
          <a:solidFill>
            <a:schemeClr val="accent1"/>
          </a:solidFill>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dirty="0"/>
          </a:p>
        </p:txBody>
      </p:sp>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4"/>
            <a:ext cx="4680000" cy="1440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DE" noProof="0" dirty="0"/>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96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dirty="0"/>
          </a:p>
        </p:txBody>
      </p:sp>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440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en-US" noProof="0"/>
              <a:t>Click to edit Master title style</a:t>
            </a:r>
            <a:endParaRPr lang="de-CH" noProof="0"/>
          </a:p>
        </p:txBody>
      </p:sp>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4575276"/>
            <a:ext cx="10044000" cy="1440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3312000"/>
          </a:xfrm>
          <a:solidFill>
            <a:schemeClr val="accent2"/>
          </a:solidFill>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440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61D6AC-3BAC-4A50-9479-1E7CD895A648}"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a:xfrm>
            <a:off x="2171700" y="6522444"/>
            <a:ext cx="7200000" cy="216000"/>
          </a:xfrm>
        </p:spPr>
        <p:txBody>
          <a:bodyPr/>
          <a:lstStyle/>
          <a:p>
            <a:r>
              <a:rPr lang="de-DE" noProof="0"/>
              <a:t>Organisationseinheit verbal – STRENG VERTRAULICH</a:t>
            </a:r>
            <a:endParaRPr lang="de-CH" noProof="0" dirty="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60162FC-E8FF-4D52-8F53-8F2A2A3AD348}"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dirty="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56D5A3C0-7A2F-4A62-9057-882FB8F5659A}"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en-US" noProof="0"/>
              <a:t>Click to edit Master text styles</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en-US"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73923CAD-8964-4A8E-9E9C-0F755B932903}"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en-US"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9C26206A-A7FF-4A2F-A4EA-EDA7D9956B8C}"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AE2B7ECC-AD5B-4AE2-A84F-7ABFC0424E38}"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5FA21818-B1F9-4DD3-88F2-43FBC3C9BAF5}"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F570A20D-9FD8-4251-A734-1127FF21ADB2}"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en-US" noProof="0"/>
              <a:t>Click icon to add picture</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en-US" noProof="0"/>
              <a:t>Click icon to add picture</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BB5F4EA9-B322-4AC6-9ED4-333F1AAC8416}"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en-US" noProof="0"/>
              <a:t>Click icon to add picture</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en-US" noProof="0"/>
              <a:t>Click icon to add picture</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en-US" noProof="0"/>
              <a:t>Click to edit Master text styles</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FD59B2A-9722-4479-8974-FDB801910172}"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en-US" noProof="0"/>
              <a:t>Click icon to add table</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en-US" noProof="0"/>
              <a:t>Click to edit Master text styles</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en-US" noProof="0"/>
              <a:t>Click icon to add picture</a:t>
            </a:r>
            <a:endParaRPr lang="de-CH" noProof="0"/>
          </a:p>
        </p:txBody>
      </p:sp>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269E37AB-EE9C-4565-B2FD-B1FC504BEE2A}" type="datetime1">
              <a:rPr lang="de-CH" noProof="0" smtClean="0"/>
              <a:t>03.07.2026</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199464" y="6522444"/>
            <a:ext cx="5400000" cy="216000"/>
          </a:xfrm>
          <a:prstGeom prst="rect">
            <a:avLst/>
          </a:prstGeom>
        </p:spPr>
        <p:txBody>
          <a:bodyPr vert="horz" lIns="0" tIns="0" rIns="0" bIns="0" rtlCol="0" anchor="ctr"/>
          <a:lstStyle>
            <a:lvl1pPr algn="l">
              <a:defRPr sz="800">
                <a:solidFill>
                  <a:schemeClr val="tx1"/>
                </a:solidFill>
              </a:defRPr>
            </a:lvl1pPr>
          </a:lstStyle>
          <a:p>
            <a:r>
              <a:rPr lang="de-DE" noProof="0"/>
              <a:t>Organisationseinheit verbal – STRENG VERTRAULICH</a:t>
            </a:r>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1168" y="6519672"/>
            <a:ext cx="5303520" cy="201168"/>
          </a:xfrm>
          <a:prstGeom prst="rect">
            <a:avLst/>
          </a:prstGeom>
          <a:noFill/>
        </p:spPr>
        <p:txBody>
          <a:bodyPr wrap="square" lIns="27432" tIns="18288" rIns="27432" bIns="18288" anchor="t">
            <a:spAutoFit/>
          </a:bodyPr>
          <a:lstStyle/>
          <a:p>
            <a:endParaRPr/>
          </a:p>
        </p:txBody>
      </p:sp>
      <p:sp>
        <p:nvSpPr>
          <p:cNvPr id="3" name="TextBox 2"/>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4" name="TextBox 3"/>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a:t>
            </a:r>
          </a:p>
        </p:txBody>
      </p:sp>
      <p:sp>
        <p:nvSpPr>
          <p:cNvPr id="5" name="TextBox 4"/>
          <p:cNvSpPr txBox="1"/>
          <p:nvPr/>
        </p:nvSpPr>
        <p:spPr>
          <a:xfrm>
            <a:off x="685800" y="960120"/>
            <a:ext cx="5715000" cy="1114151"/>
          </a:xfrm>
          <a:prstGeom prst="rect">
            <a:avLst/>
          </a:prstGeom>
          <a:noFill/>
        </p:spPr>
        <p:txBody>
          <a:bodyPr wrap="square" lIns="27432" tIns="18288" rIns="27432" bIns="18288" anchor="t">
            <a:spAutoFit/>
          </a:bodyPr>
          <a:lstStyle/>
          <a:p>
            <a:r>
              <a:rPr sz="3500" b="1" dirty="0">
                <a:solidFill>
                  <a:srgbClr val="17324D"/>
                </a:solidFill>
                <a:latin typeface="Arial"/>
              </a:rPr>
              <a:t>Causal Discovery and </a:t>
            </a:r>
            <a:r>
              <a:rPr lang="en-US" sz="3500" b="1" dirty="0">
                <a:solidFill>
                  <a:srgbClr val="17324D"/>
                </a:solidFill>
                <a:latin typeface="Arial"/>
              </a:rPr>
              <a:t>ATE </a:t>
            </a:r>
            <a:r>
              <a:rPr sz="3500" b="1" dirty="0">
                <a:solidFill>
                  <a:srgbClr val="17324D"/>
                </a:solidFill>
                <a:latin typeface="Arial"/>
              </a:rPr>
              <a:t>Estimation</a:t>
            </a:r>
            <a:r>
              <a:rPr lang="en-US" sz="3500" b="1" dirty="0">
                <a:solidFill>
                  <a:srgbClr val="17324D"/>
                </a:solidFill>
                <a:latin typeface="Arial"/>
              </a:rPr>
              <a:t> </a:t>
            </a:r>
            <a:r>
              <a:rPr sz="3500" b="1" dirty="0">
                <a:solidFill>
                  <a:srgbClr val="17324D"/>
                </a:solidFill>
                <a:latin typeface="Arial"/>
              </a:rPr>
              <a:t>on NHANES</a:t>
            </a:r>
          </a:p>
        </p:txBody>
      </p:sp>
      <p:sp>
        <p:nvSpPr>
          <p:cNvPr id="6" name="TextBox 5"/>
          <p:cNvSpPr txBox="1"/>
          <p:nvPr/>
        </p:nvSpPr>
        <p:spPr>
          <a:xfrm>
            <a:off x="716280" y="3314700"/>
            <a:ext cx="4211707" cy="344710"/>
          </a:xfrm>
          <a:prstGeom prst="rect">
            <a:avLst/>
          </a:prstGeom>
          <a:noFill/>
        </p:spPr>
        <p:txBody>
          <a:bodyPr wrap="square" lIns="27432" tIns="18288" rIns="27432" bIns="18288" anchor="t">
            <a:spAutoFit/>
          </a:bodyPr>
          <a:lstStyle/>
          <a:p>
            <a:r>
              <a:rPr sz="2000" b="1" dirty="0">
                <a:solidFill>
                  <a:srgbClr val="287D7A"/>
                </a:solidFill>
                <a:latin typeface="Arial"/>
              </a:rPr>
              <a:t>Technical Project Presentation</a:t>
            </a:r>
            <a:r>
              <a:rPr lang="en-US" sz="2000" b="1" dirty="0">
                <a:solidFill>
                  <a:srgbClr val="287D7A"/>
                </a:solidFill>
                <a:latin typeface="Arial"/>
              </a:rPr>
              <a:t> </a:t>
            </a:r>
            <a:r>
              <a:rPr lang="en-US" sz="2000" b="1" i="1" dirty="0" err="1">
                <a:solidFill>
                  <a:srgbClr val="287D7A"/>
                </a:solidFill>
                <a:latin typeface="Book Antiqua" panose="02040602050305030304" pitchFamily="18" charset="0"/>
              </a:rPr>
              <a:t>u</a:t>
            </a:r>
            <a:r>
              <a:rPr lang="en-US" sz="2000" b="1" i="1" baseline="30000" dirty="0" err="1">
                <a:solidFill>
                  <a:srgbClr val="287D7A"/>
                </a:solidFill>
                <a:latin typeface="Book Antiqua" panose="02040602050305030304" pitchFamily="18" charset="0"/>
              </a:rPr>
              <a:t>b</a:t>
            </a:r>
            <a:endParaRPr sz="2000" b="1" i="1" dirty="0">
              <a:solidFill>
                <a:srgbClr val="287D7A"/>
              </a:solidFill>
              <a:latin typeface="Book Antiqua" panose="02040602050305030304" pitchFamily="18" charset="0"/>
            </a:endParaRPr>
          </a:p>
        </p:txBody>
      </p:sp>
      <p:sp>
        <p:nvSpPr>
          <p:cNvPr id="7" name="TextBox 6"/>
          <p:cNvSpPr txBox="1"/>
          <p:nvPr/>
        </p:nvSpPr>
        <p:spPr>
          <a:xfrm>
            <a:off x="716281" y="3977640"/>
            <a:ext cx="4114800" cy="640080"/>
          </a:xfrm>
          <a:prstGeom prst="rect">
            <a:avLst/>
          </a:prstGeom>
          <a:noFill/>
        </p:spPr>
        <p:txBody>
          <a:bodyPr wrap="square" lIns="27432" tIns="18288" rIns="27432" bIns="18288" anchor="t">
            <a:spAutoFit/>
          </a:bodyPr>
          <a:lstStyle/>
          <a:p>
            <a:r>
              <a:rPr sz="1600" b="0" dirty="0">
                <a:solidFill>
                  <a:srgbClr val="000000"/>
                </a:solidFill>
                <a:latin typeface="Arial"/>
              </a:rPr>
              <a:t>Ömer </a:t>
            </a:r>
            <a:r>
              <a:rPr sz="1600" b="0" dirty="0" err="1">
                <a:solidFill>
                  <a:srgbClr val="000000"/>
                </a:solidFill>
                <a:latin typeface="Arial"/>
              </a:rPr>
              <a:t>Alkaya</a:t>
            </a:r>
            <a:br>
              <a:rPr dirty="0"/>
            </a:br>
            <a:r>
              <a:rPr sz="1600" b="0" dirty="0">
                <a:solidFill>
                  <a:srgbClr val="000000"/>
                </a:solidFill>
                <a:latin typeface="Arial"/>
              </a:rPr>
              <a:t>July 2026</a:t>
            </a:r>
          </a:p>
        </p:txBody>
      </p:sp>
      <p:pic>
        <p:nvPicPr>
          <p:cNvPr id="8" name="Picture 7" descr="directlingam_strict_007_selected.png"/>
          <p:cNvPicPr>
            <a:picLocks noChangeAspect="1"/>
          </p:cNvPicPr>
          <p:nvPr/>
        </p:nvPicPr>
        <p:blipFill>
          <a:blip r:embed="rId2"/>
          <a:srcRect l="11850" t="7784" r="10714" b="10478"/>
          <a:stretch>
            <a:fillRect/>
          </a:stretch>
        </p:blipFill>
        <p:spPr>
          <a:xfrm>
            <a:off x="6742827" y="1065343"/>
            <a:ext cx="5179945" cy="33290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83209"/>
          </a:xfrm>
          <a:prstGeom prst="rect">
            <a:avLst/>
          </a:prstGeom>
          <a:noFill/>
        </p:spPr>
        <p:txBody>
          <a:bodyPr wrap="square" lIns="27432" tIns="18288" rIns="27432" bIns="18288" anchor="t">
            <a:spAutoFit/>
          </a:bodyPr>
          <a:lstStyle/>
          <a:p>
            <a:r>
              <a:rPr sz="2800" b="1" dirty="0">
                <a:solidFill>
                  <a:srgbClr val="17324D"/>
                </a:solidFill>
                <a:latin typeface="Arial"/>
              </a:rPr>
              <a:t>Project framing</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Overview</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2</a:t>
            </a:r>
          </a:p>
        </p:txBody>
      </p:sp>
      <p:sp>
        <p:nvSpPr>
          <p:cNvPr id="6" name="TextBox 5"/>
          <p:cNvSpPr txBox="1"/>
          <p:nvPr/>
        </p:nvSpPr>
        <p:spPr>
          <a:xfrm>
            <a:off x="777240" y="1112377"/>
            <a:ext cx="1188720" cy="313932"/>
          </a:xfrm>
          <a:prstGeom prst="rect">
            <a:avLst/>
          </a:prstGeom>
          <a:noFill/>
        </p:spPr>
        <p:txBody>
          <a:bodyPr wrap="square" lIns="27432" tIns="18288" rIns="27432" bIns="18288" anchor="t">
            <a:spAutoFit/>
          </a:bodyPr>
          <a:lstStyle/>
          <a:p>
            <a:r>
              <a:rPr b="1" dirty="0">
                <a:solidFill>
                  <a:srgbClr val="287D7A"/>
                </a:solidFill>
                <a:latin typeface="Arial"/>
              </a:rPr>
              <a:t>Goal</a:t>
            </a:r>
          </a:p>
        </p:txBody>
      </p:sp>
      <p:sp>
        <p:nvSpPr>
          <p:cNvPr id="7" name="TextBox 6"/>
          <p:cNvSpPr txBox="1"/>
          <p:nvPr/>
        </p:nvSpPr>
        <p:spPr>
          <a:xfrm>
            <a:off x="777240" y="1508760"/>
            <a:ext cx="10058400" cy="283154"/>
          </a:xfrm>
          <a:prstGeom prst="rect">
            <a:avLst/>
          </a:prstGeom>
          <a:noFill/>
        </p:spPr>
        <p:txBody>
          <a:bodyPr wrap="square" lIns="27432" tIns="18288" rIns="27432" bIns="18288" anchor="t">
            <a:spAutoFit/>
          </a:bodyPr>
          <a:lstStyle/>
          <a:p>
            <a:r>
              <a:rPr sz="1600" b="0" dirty="0">
                <a:solidFill>
                  <a:srgbClr val="000000"/>
                </a:solidFill>
                <a:latin typeface="Arial"/>
              </a:rPr>
              <a:t>Estimate total effects of predefined activity and dietary treatments on BMI under a selected causal DAG.</a:t>
            </a:r>
          </a:p>
        </p:txBody>
      </p:sp>
      <p:sp>
        <p:nvSpPr>
          <p:cNvPr id="8" name="TextBox 7"/>
          <p:cNvSpPr txBox="1"/>
          <p:nvPr/>
        </p:nvSpPr>
        <p:spPr>
          <a:xfrm>
            <a:off x="822960" y="2258568"/>
            <a:ext cx="292608" cy="274320"/>
          </a:xfrm>
          <a:prstGeom prst="rect">
            <a:avLst/>
          </a:prstGeom>
          <a:solidFill>
            <a:srgbClr val="287D7A"/>
          </a:solidFill>
          <a:ln>
            <a:noFill/>
          </a:ln>
        </p:spPr>
        <p:txBody>
          <a:bodyPr wrap="square" lIns="27432" tIns="18288" rIns="27432" bIns="18288" anchor="t">
            <a:spAutoFit/>
          </a:bodyPr>
          <a:lstStyle/>
          <a:p>
            <a:pPr algn="ctr"/>
            <a:r>
              <a:rPr sz="1500" b="1">
                <a:solidFill>
                  <a:srgbClr val="FFFFFF"/>
                </a:solidFill>
                <a:latin typeface="Arial"/>
              </a:rPr>
              <a:t>1</a:t>
            </a:r>
          </a:p>
        </p:txBody>
      </p:sp>
      <p:sp>
        <p:nvSpPr>
          <p:cNvPr id="9" name="TextBox 8"/>
          <p:cNvSpPr txBox="1"/>
          <p:nvPr/>
        </p:nvSpPr>
        <p:spPr>
          <a:xfrm>
            <a:off x="1234440" y="2240280"/>
            <a:ext cx="7680960" cy="274320"/>
          </a:xfrm>
          <a:prstGeom prst="rect">
            <a:avLst/>
          </a:prstGeom>
          <a:noFill/>
        </p:spPr>
        <p:txBody>
          <a:bodyPr wrap="square" lIns="27432" tIns="18288" rIns="27432" bIns="18288" anchor="t">
            <a:spAutoFit/>
          </a:bodyPr>
          <a:lstStyle/>
          <a:p>
            <a:r>
              <a:rPr sz="1600" b="1" dirty="0">
                <a:solidFill>
                  <a:srgbClr val="17324D"/>
                </a:solidFill>
                <a:latin typeface="Arial"/>
              </a:rPr>
              <a:t>NHANES dataset preprocessing</a:t>
            </a:r>
          </a:p>
        </p:txBody>
      </p:sp>
      <p:sp>
        <p:nvSpPr>
          <p:cNvPr id="10" name="TextBox 9"/>
          <p:cNvSpPr txBox="1"/>
          <p:nvPr/>
        </p:nvSpPr>
        <p:spPr>
          <a:xfrm>
            <a:off x="1234440" y="2532888"/>
            <a:ext cx="8046720" cy="228600"/>
          </a:xfrm>
          <a:prstGeom prst="rect">
            <a:avLst/>
          </a:prstGeom>
          <a:noFill/>
        </p:spPr>
        <p:txBody>
          <a:bodyPr wrap="square" lIns="27432" tIns="18288" rIns="27432" bIns="18288" anchor="t">
            <a:spAutoFit/>
          </a:bodyPr>
          <a:lstStyle/>
          <a:p>
            <a:r>
              <a:rPr sz="1100" b="0" dirty="0">
                <a:solidFill>
                  <a:srgbClr val="6C7075"/>
                </a:solidFill>
                <a:latin typeface="Arial"/>
              </a:rPr>
              <a:t>utils/preprocess_nhanes.py</a:t>
            </a:r>
          </a:p>
        </p:txBody>
      </p:sp>
      <p:sp>
        <p:nvSpPr>
          <p:cNvPr id="11" name="TextBox 10"/>
          <p:cNvSpPr txBox="1"/>
          <p:nvPr/>
        </p:nvSpPr>
        <p:spPr>
          <a:xfrm>
            <a:off x="822960" y="2944368"/>
            <a:ext cx="292608" cy="274320"/>
          </a:xfrm>
          <a:prstGeom prst="rect">
            <a:avLst/>
          </a:prstGeom>
          <a:solidFill>
            <a:srgbClr val="287D7A"/>
          </a:solidFill>
          <a:ln>
            <a:noFill/>
          </a:ln>
        </p:spPr>
        <p:txBody>
          <a:bodyPr wrap="square" lIns="27432" tIns="18288" rIns="27432" bIns="18288" anchor="t">
            <a:spAutoFit/>
          </a:bodyPr>
          <a:lstStyle/>
          <a:p>
            <a:pPr algn="ctr"/>
            <a:r>
              <a:rPr sz="1500" b="1">
                <a:solidFill>
                  <a:srgbClr val="FFFFFF"/>
                </a:solidFill>
                <a:latin typeface="Arial"/>
              </a:rPr>
              <a:t>2</a:t>
            </a:r>
          </a:p>
        </p:txBody>
      </p:sp>
      <p:sp>
        <p:nvSpPr>
          <p:cNvPr id="12" name="TextBox 11"/>
          <p:cNvSpPr txBox="1"/>
          <p:nvPr/>
        </p:nvSpPr>
        <p:spPr>
          <a:xfrm>
            <a:off x="1234440" y="2926080"/>
            <a:ext cx="7680960" cy="274320"/>
          </a:xfrm>
          <a:prstGeom prst="rect">
            <a:avLst/>
          </a:prstGeom>
          <a:noFill/>
        </p:spPr>
        <p:txBody>
          <a:bodyPr wrap="square" lIns="27432" tIns="18288" rIns="27432" bIns="18288" anchor="t">
            <a:spAutoFit/>
          </a:bodyPr>
          <a:lstStyle/>
          <a:p>
            <a:r>
              <a:rPr sz="1600" b="1">
                <a:solidFill>
                  <a:srgbClr val="17324D"/>
                </a:solidFill>
                <a:latin typeface="Arial"/>
              </a:rPr>
              <a:t>Causal discovery with PC, DirectLiNGAM, and RESIT</a:t>
            </a:r>
          </a:p>
        </p:txBody>
      </p:sp>
      <p:sp>
        <p:nvSpPr>
          <p:cNvPr id="13" name="TextBox 12"/>
          <p:cNvSpPr txBox="1"/>
          <p:nvPr/>
        </p:nvSpPr>
        <p:spPr>
          <a:xfrm>
            <a:off x="1234440" y="3218688"/>
            <a:ext cx="8046720" cy="228600"/>
          </a:xfrm>
          <a:prstGeom prst="rect">
            <a:avLst/>
          </a:prstGeom>
          <a:noFill/>
        </p:spPr>
        <p:txBody>
          <a:bodyPr wrap="square" lIns="27432" tIns="18288" rIns="27432" bIns="18288" anchor="t">
            <a:spAutoFit/>
          </a:bodyPr>
          <a:lstStyle/>
          <a:p>
            <a:r>
              <a:rPr sz="1100" b="0">
                <a:solidFill>
                  <a:srgbClr val="6C7075"/>
                </a:solidFill>
                <a:latin typeface="Arial"/>
              </a:rPr>
              <a:t>scripts/run_pc.py, scripts/run_directlingam.py, scripts/run_resit.py</a:t>
            </a:r>
          </a:p>
        </p:txBody>
      </p:sp>
      <p:sp>
        <p:nvSpPr>
          <p:cNvPr id="14" name="TextBox 13"/>
          <p:cNvSpPr txBox="1"/>
          <p:nvPr/>
        </p:nvSpPr>
        <p:spPr>
          <a:xfrm>
            <a:off x="822960" y="3630168"/>
            <a:ext cx="292608" cy="274320"/>
          </a:xfrm>
          <a:prstGeom prst="rect">
            <a:avLst/>
          </a:prstGeom>
          <a:solidFill>
            <a:srgbClr val="287D7A"/>
          </a:solidFill>
          <a:ln>
            <a:noFill/>
          </a:ln>
        </p:spPr>
        <p:txBody>
          <a:bodyPr wrap="square" lIns="27432" tIns="18288" rIns="27432" bIns="18288" anchor="t">
            <a:spAutoFit/>
          </a:bodyPr>
          <a:lstStyle/>
          <a:p>
            <a:pPr algn="ctr"/>
            <a:r>
              <a:rPr sz="1500" b="1">
                <a:solidFill>
                  <a:srgbClr val="FFFFFF"/>
                </a:solidFill>
                <a:latin typeface="Arial"/>
              </a:rPr>
              <a:t>3</a:t>
            </a:r>
          </a:p>
        </p:txBody>
      </p:sp>
      <p:sp>
        <p:nvSpPr>
          <p:cNvPr id="15" name="TextBox 14"/>
          <p:cNvSpPr txBox="1"/>
          <p:nvPr/>
        </p:nvSpPr>
        <p:spPr>
          <a:xfrm>
            <a:off x="1234440" y="3611880"/>
            <a:ext cx="7680960" cy="274320"/>
          </a:xfrm>
          <a:prstGeom prst="rect">
            <a:avLst/>
          </a:prstGeom>
          <a:noFill/>
        </p:spPr>
        <p:txBody>
          <a:bodyPr wrap="square" lIns="27432" tIns="18288" rIns="27432" bIns="18288" anchor="t">
            <a:spAutoFit/>
          </a:bodyPr>
          <a:lstStyle/>
          <a:p>
            <a:r>
              <a:rPr sz="1600" b="1">
                <a:solidFill>
                  <a:srgbClr val="17324D"/>
                </a:solidFill>
                <a:latin typeface="Arial"/>
              </a:rPr>
              <a:t>Graph inspection and DAG selection</a:t>
            </a:r>
          </a:p>
        </p:txBody>
      </p:sp>
      <p:sp>
        <p:nvSpPr>
          <p:cNvPr id="16" name="TextBox 15"/>
          <p:cNvSpPr txBox="1"/>
          <p:nvPr/>
        </p:nvSpPr>
        <p:spPr>
          <a:xfrm>
            <a:off x="1234440" y="3904488"/>
            <a:ext cx="8046720" cy="228600"/>
          </a:xfrm>
          <a:prstGeom prst="rect">
            <a:avLst/>
          </a:prstGeom>
          <a:noFill/>
        </p:spPr>
        <p:txBody>
          <a:bodyPr wrap="square" lIns="27432" tIns="18288" rIns="27432" bIns="18288" anchor="t">
            <a:spAutoFit/>
          </a:bodyPr>
          <a:lstStyle/>
          <a:p>
            <a:r>
              <a:rPr sz="1100" b="0">
                <a:solidFill>
                  <a:srgbClr val="6C7075"/>
                </a:solidFill>
                <a:latin typeface="Arial"/>
              </a:rPr>
              <a:t>utils/check_treatment_paths.py, utils/visualize_graph_csv.py</a:t>
            </a:r>
          </a:p>
        </p:txBody>
      </p:sp>
      <p:sp>
        <p:nvSpPr>
          <p:cNvPr id="17" name="TextBox 16"/>
          <p:cNvSpPr txBox="1"/>
          <p:nvPr/>
        </p:nvSpPr>
        <p:spPr>
          <a:xfrm>
            <a:off x="822960" y="4315968"/>
            <a:ext cx="292608" cy="274320"/>
          </a:xfrm>
          <a:prstGeom prst="rect">
            <a:avLst/>
          </a:prstGeom>
          <a:solidFill>
            <a:srgbClr val="287D7A"/>
          </a:solidFill>
          <a:ln>
            <a:noFill/>
          </a:ln>
        </p:spPr>
        <p:txBody>
          <a:bodyPr wrap="square" lIns="27432" tIns="18288" rIns="27432" bIns="18288" anchor="t">
            <a:spAutoFit/>
          </a:bodyPr>
          <a:lstStyle/>
          <a:p>
            <a:pPr algn="ctr"/>
            <a:r>
              <a:rPr sz="1500" b="1">
                <a:solidFill>
                  <a:srgbClr val="FFFFFF"/>
                </a:solidFill>
                <a:latin typeface="Arial"/>
              </a:rPr>
              <a:t>4</a:t>
            </a:r>
          </a:p>
        </p:txBody>
      </p:sp>
      <p:sp>
        <p:nvSpPr>
          <p:cNvPr id="18" name="TextBox 17"/>
          <p:cNvSpPr txBox="1"/>
          <p:nvPr/>
        </p:nvSpPr>
        <p:spPr>
          <a:xfrm>
            <a:off x="1234440" y="4297680"/>
            <a:ext cx="7680960" cy="274320"/>
          </a:xfrm>
          <a:prstGeom prst="rect">
            <a:avLst/>
          </a:prstGeom>
          <a:noFill/>
        </p:spPr>
        <p:txBody>
          <a:bodyPr wrap="square" lIns="27432" tIns="18288" rIns="27432" bIns="18288" anchor="t">
            <a:spAutoFit/>
          </a:bodyPr>
          <a:lstStyle/>
          <a:p>
            <a:r>
              <a:rPr sz="1600" b="1">
                <a:solidFill>
                  <a:srgbClr val="17324D"/>
                </a:solidFill>
                <a:latin typeface="Arial"/>
              </a:rPr>
              <a:t>Treatment-specific adjustment-set identification</a:t>
            </a:r>
          </a:p>
        </p:txBody>
      </p:sp>
      <p:sp>
        <p:nvSpPr>
          <p:cNvPr id="19" name="TextBox 18"/>
          <p:cNvSpPr txBox="1"/>
          <p:nvPr/>
        </p:nvSpPr>
        <p:spPr>
          <a:xfrm>
            <a:off x="1234440" y="4590288"/>
            <a:ext cx="8046720" cy="228600"/>
          </a:xfrm>
          <a:prstGeom prst="rect">
            <a:avLst/>
          </a:prstGeom>
          <a:noFill/>
        </p:spPr>
        <p:txBody>
          <a:bodyPr wrap="square" lIns="27432" tIns="18288" rIns="27432" bIns="18288" anchor="t">
            <a:spAutoFit/>
          </a:bodyPr>
          <a:lstStyle/>
          <a:p>
            <a:r>
              <a:rPr sz="1100" b="0">
                <a:solidFill>
                  <a:srgbClr val="6C7075"/>
                </a:solidFill>
                <a:latin typeface="Arial"/>
              </a:rPr>
              <a:t>utils/find_adjustment_sets.py</a:t>
            </a:r>
          </a:p>
        </p:txBody>
      </p:sp>
      <p:sp>
        <p:nvSpPr>
          <p:cNvPr id="20" name="TextBox 19"/>
          <p:cNvSpPr txBox="1"/>
          <p:nvPr/>
        </p:nvSpPr>
        <p:spPr>
          <a:xfrm>
            <a:off x="822960" y="5001768"/>
            <a:ext cx="292608" cy="274320"/>
          </a:xfrm>
          <a:prstGeom prst="rect">
            <a:avLst/>
          </a:prstGeom>
          <a:solidFill>
            <a:srgbClr val="287D7A"/>
          </a:solidFill>
          <a:ln>
            <a:noFill/>
          </a:ln>
        </p:spPr>
        <p:txBody>
          <a:bodyPr wrap="square" lIns="27432" tIns="18288" rIns="27432" bIns="18288" anchor="t">
            <a:spAutoFit/>
          </a:bodyPr>
          <a:lstStyle/>
          <a:p>
            <a:pPr algn="ctr"/>
            <a:r>
              <a:rPr sz="1500" b="1">
                <a:solidFill>
                  <a:srgbClr val="FFFFFF"/>
                </a:solidFill>
                <a:latin typeface="Arial"/>
              </a:rPr>
              <a:t>5</a:t>
            </a:r>
          </a:p>
        </p:txBody>
      </p:sp>
      <p:sp>
        <p:nvSpPr>
          <p:cNvPr id="21" name="TextBox 20"/>
          <p:cNvSpPr txBox="1"/>
          <p:nvPr/>
        </p:nvSpPr>
        <p:spPr>
          <a:xfrm>
            <a:off x="1234440" y="4983480"/>
            <a:ext cx="7680960" cy="274320"/>
          </a:xfrm>
          <a:prstGeom prst="rect">
            <a:avLst/>
          </a:prstGeom>
          <a:noFill/>
        </p:spPr>
        <p:txBody>
          <a:bodyPr wrap="square" lIns="27432" tIns="18288" rIns="27432" bIns="18288" anchor="t">
            <a:spAutoFit/>
          </a:bodyPr>
          <a:lstStyle/>
          <a:p>
            <a:r>
              <a:rPr sz="1600" b="1">
                <a:solidFill>
                  <a:srgbClr val="17324D"/>
                </a:solidFill>
                <a:latin typeface="Arial"/>
              </a:rPr>
              <a:t>ATE estimation on BMI with DoWhy</a:t>
            </a:r>
          </a:p>
        </p:txBody>
      </p:sp>
      <p:sp>
        <p:nvSpPr>
          <p:cNvPr id="22" name="TextBox 21"/>
          <p:cNvSpPr txBox="1"/>
          <p:nvPr/>
        </p:nvSpPr>
        <p:spPr>
          <a:xfrm>
            <a:off x="1234440" y="5276088"/>
            <a:ext cx="8046720" cy="228600"/>
          </a:xfrm>
          <a:prstGeom prst="rect">
            <a:avLst/>
          </a:prstGeom>
          <a:noFill/>
        </p:spPr>
        <p:txBody>
          <a:bodyPr wrap="square" lIns="27432" tIns="18288" rIns="27432" bIns="18288" anchor="t">
            <a:spAutoFit/>
          </a:bodyPr>
          <a:lstStyle/>
          <a:p>
            <a:r>
              <a:rPr sz="1100" b="0">
                <a:solidFill>
                  <a:srgbClr val="6C7075"/>
                </a:solidFill>
                <a:latin typeface="Arial"/>
              </a:rPr>
              <a:t>scripts/run_inference.py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83209"/>
          </a:xfrm>
          <a:prstGeom prst="rect">
            <a:avLst/>
          </a:prstGeom>
          <a:noFill/>
        </p:spPr>
        <p:txBody>
          <a:bodyPr wrap="square" lIns="27432" tIns="18288" rIns="27432" bIns="18288" anchor="t">
            <a:spAutoFit/>
          </a:bodyPr>
          <a:lstStyle/>
          <a:p>
            <a:r>
              <a:rPr sz="2800" b="1" dirty="0">
                <a:solidFill>
                  <a:srgbClr val="17324D"/>
                </a:solidFill>
                <a:latin typeface="Arial"/>
              </a:rPr>
              <a:t>NHANES preprocessing</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Data</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3</a:t>
            </a:r>
          </a:p>
        </p:txBody>
      </p:sp>
      <p:graphicFrame>
        <p:nvGraphicFramePr>
          <p:cNvPr id="7" name="Table 6"/>
          <p:cNvGraphicFramePr>
            <a:graphicFrameLocks noGrp="1"/>
          </p:cNvGraphicFramePr>
          <p:nvPr>
            <p:extLst>
              <p:ext uri="{D42A27DB-BD31-4B8C-83A1-F6EECF244321}">
                <p14:modId xmlns:p14="http://schemas.microsoft.com/office/powerpoint/2010/main" val="3208769723"/>
              </p:ext>
            </p:extLst>
          </p:nvPr>
        </p:nvGraphicFramePr>
        <p:xfrm>
          <a:off x="4632960" y="1058939"/>
          <a:ext cx="2926080" cy="1760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19793">
                <a:tc>
                  <a:txBody>
                    <a:bodyPr/>
                    <a:lstStyle/>
                    <a:p>
                      <a:pPr algn="l"/>
                      <a:r>
                        <a:rPr sz="1400" b="1" dirty="0">
                          <a:solidFill>
                            <a:srgbClr val="FFFFFF"/>
                          </a:solidFill>
                          <a:latin typeface="Arial"/>
                        </a:rPr>
                        <a:t>Measure</a:t>
                      </a:r>
                    </a:p>
                  </a:txBody>
                  <a:tcPr marL="45720" marR="45720" marT="27432" marB="27432" anchor="ctr">
                    <a:solidFill>
                      <a:srgbClr val="17324D"/>
                    </a:solidFill>
                  </a:tcPr>
                </a:tc>
                <a:tc>
                  <a:txBody>
                    <a:bodyPr/>
                    <a:lstStyle/>
                    <a:p>
                      <a:pPr algn="l"/>
                      <a:r>
                        <a:rPr sz="1400" b="1" dirty="0">
                          <a:solidFill>
                            <a:srgbClr val="FFFFFF"/>
                          </a:solidFill>
                          <a:latin typeface="Arial"/>
                        </a:rPr>
                        <a:t>Count</a:t>
                      </a:r>
                    </a:p>
                  </a:txBody>
                  <a:tcPr marL="45720" marR="45720" marT="27432" marB="27432" anchor="ctr">
                    <a:solidFill>
                      <a:srgbClr val="17324D"/>
                    </a:solidFill>
                  </a:tcPr>
                </a:tc>
                <a:extLst>
                  <a:ext uri="{0D108BD9-81ED-4DB2-BD59-A6C34878D82A}">
                    <a16:rowId xmlns:a16="http://schemas.microsoft.com/office/drawing/2014/main" val="10000"/>
                  </a:ext>
                </a:extLst>
              </a:tr>
              <a:tr h="416502">
                <a:tc>
                  <a:txBody>
                    <a:bodyPr/>
                    <a:lstStyle/>
                    <a:p>
                      <a:pPr algn="l"/>
                      <a:r>
                        <a:rPr sz="1400" b="0" dirty="0">
                          <a:solidFill>
                            <a:srgbClr val="000000"/>
                          </a:solidFill>
                          <a:latin typeface="Arial"/>
                        </a:rPr>
                        <a:t>Original observations</a:t>
                      </a:r>
                    </a:p>
                  </a:txBody>
                  <a:tcPr marL="45720" marR="45720" marT="27432" marB="27432" anchor="ctr">
                    <a:solidFill>
                      <a:srgbClr val="FFFFFF"/>
                    </a:solidFill>
                  </a:tcPr>
                </a:tc>
                <a:tc>
                  <a:txBody>
                    <a:bodyPr/>
                    <a:lstStyle/>
                    <a:p>
                      <a:pPr algn="l"/>
                      <a:r>
                        <a:rPr sz="1400" b="0">
                          <a:solidFill>
                            <a:srgbClr val="000000"/>
                          </a:solidFill>
                          <a:latin typeface="Arial"/>
                        </a:rPr>
                        <a:t>3,842</a:t>
                      </a:r>
                    </a:p>
                  </a:txBody>
                  <a:tcPr marL="45720" marR="45720" marT="27432" marB="27432" anchor="ctr">
                    <a:solidFill>
                      <a:srgbClr val="FFFFFF"/>
                    </a:solidFill>
                  </a:tcPr>
                </a:tc>
                <a:extLst>
                  <a:ext uri="{0D108BD9-81ED-4DB2-BD59-A6C34878D82A}">
                    <a16:rowId xmlns:a16="http://schemas.microsoft.com/office/drawing/2014/main" val="10001"/>
                  </a:ext>
                </a:extLst>
              </a:tr>
              <a:tr h="485675">
                <a:tc>
                  <a:txBody>
                    <a:bodyPr/>
                    <a:lstStyle/>
                    <a:p>
                      <a:pPr algn="l"/>
                      <a:r>
                        <a:rPr sz="1400" b="0" dirty="0">
                          <a:solidFill>
                            <a:srgbClr val="000000"/>
                          </a:solidFill>
                          <a:latin typeface="Arial"/>
                        </a:rPr>
                        <a:t>Dropped observations</a:t>
                      </a:r>
                    </a:p>
                  </a:txBody>
                  <a:tcPr marL="45720" marR="45720" marT="27432" marB="27432" anchor="ctr">
                    <a:solidFill>
                      <a:srgbClr val="FAFAFA"/>
                    </a:solidFill>
                  </a:tcPr>
                </a:tc>
                <a:tc>
                  <a:txBody>
                    <a:bodyPr/>
                    <a:lstStyle/>
                    <a:p>
                      <a:pPr algn="l"/>
                      <a:r>
                        <a:rPr sz="1400" b="0">
                          <a:solidFill>
                            <a:srgbClr val="000000"/>
                          </a:solidFill>
                          <a:latin typeface="Arial"/>
                        </a:rPr>
                        <a:t>42</a:t>
                      </a:r>
                    </a:p>
                  </a:txBody>
                  <a:tcPr marL="45720" marR="45720" marT="27432" marB="27432" anchor="ctr">
                    <a:solidFill>
                      <a:srgbClr val="FAFAFA"/>
                    </a:solidFill>
                  </a:tcPr>
                </a:tc>
                <a:extLst>
                  <a:ext uri="{0D108BD9-81ED-4DB2-BD59-A6C34878D82A}">
                    <a16:rowId xmlns:a16="http://schemas.microsoft.com/office/drawing/2014/main" val="10002"/>
                  </a:ext>
                </a:extLst>
              </a:tr>
              <a:tr h="438150">
                <a:tc>
                  <a:txBody>
                    <a:bodyPr/>
                    <a:lstStyle/>
                    <a:p>
                      <a:pPr algn="l"/>
                      <a:r>
                        <a:rPr sz="1400" b="0" dirty="0">
                          <a:solidFill>
                            <a:srgbClr val="000000"/>
                          </a:solidFill>
                          <a:latin typeface="Arial"/>
                        </a:rPr>
                        <a:t>Clean observations</a:t>
                      </a:r>
                    </a:p>
                  </a:txBody>
                  <a:tcPr marL="45720" marR="45720" marT="27432" marB="27432" anchor="ctr">
                    <a:solidFill>
                      <a:srgbClr val="FFFFFF"/>
                    </a:solidFill>
                  </a:tcPr>
                </a:tc>
                <a:tc>
                  <a:txBody>
                    <a:bodyPr/>
                    <a:lstStyle/>
                    <a:p>
                      <a:pPr algn="l"/>
                      <a:r>
                        <a:rPr sz="1400" b="0" dirty="0">
                          <a:solidFill>
                            <a:srgbClr val="000000"/>
                          </a:solidFill>
                          <a:latin typeface="Arial"/>
                        </a:rPr>
                        <a:t>3,800</a:t>
                      </a:r>
                    </a:p>
                  </a:txBody>
                  <a:tcPr marL="45720" marR="45720"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731520" y="992267"/>
            <a:ext cx="2926080" cy="283154"/>
          </a:xfrm>
          <a:prstGeom prst="rect">
            <a:avLst/>
          </a:prstGeom>
          <a:noFill/>
        </p:spPr>
        <p:txBody>
          <a:bodyPr wrap="square" lIns="27432" tIns="18288" rIns="27432" bIns="18288" anchor="t">
            <a:spAutoFit/>
          </a:bodyPr>
          <a:lstStyle/>
          <a:p>
            <a:r>
              <a:rPr sz="1600" b="1" dirty="0">
                <a:solidFill>
                  <a:srgbClr val="287D7A"/>
                </a:solidFill>
                <a:latin typeface="Arial"/>
              </a:rPr>
              <a:t>Main exclusions</a:t>
            </a:r>
          </a:p>
        </p:txBody>
      </p:sp>
      <p:sp>
        <p:nvSpPr>
          <p:cNvPr id="9" name="TextBox 8"/>
          <p:cNvSpPr txBox="1"/>
          <p:nvPr/>
        </p:nvSpPr>
        <p:spPr>
          <a:xfrm>
            <a:off x="731520" y="1354717"/>
            <a:ext cx="3108960" cy="1686616"/>
          </a:xfrm>
          <a:prstGeom prst="rect">
            <a:avLst/>
          </a:prstGeom>
          <a:noFill/>
        </p:spPr>
        <p:txBody>
          <a:bodyPr wrap="square" lIns="45720" tIns="27432" rIns="45720" bIns="27432">
            <a:spAutoFit/>
          </a:bodyPr>
          <a:lstStyle/>
          <a:p>
            <a:pPr marL="285750" indent="-285750">
              <a:lnSpc>
                <a:spcPct val="100000"/>
              </a:lnSpc>
              <a:spcAft>
                <a:spcPts val="600"/>
              </a:spcAft>
              <a:buFont typeface="Wingdings" panose="05000000000000000000" pitchFamily="2" charset="2"/>
              <a:buChar char="§"/>
              <a:defRPr sz="1300">
                <a:solidFill>
                  <a:srgbClr val="000000"/>
                </a:solidFill>
                <a:latin typeface="Arial"/>
              </a:defRPr>
            </a:pPr>
            <a:r>
              <a:rPr sz="1600" dirty="0"/>
              <a:t>15 rows with sedentary minutes = 9999</a:t>
            </a:r>
          </a:p>
          <a:p>
            <a:pPr marL="285750" indent="-285750">
              <a:lnSpc>
                <a:spcPct val="100000"/>
              </a:lnSpc>
              <a:spcAft>
                <a:spcPts val="600"/>
              </a:spcAft>
              <a:buFont typeface="Wingdings" panose="05000000000000000000" pitchFamily="2" charset="2"/>
              <a:buChar char="§"/>
              <a:defRPr sz="1300">
                <a:solidFill>
                  <a:srgbClr val="000000"/>
                </a:solidFill>
                <a:latin typeface="Arial"/>
              </a:defRPr>
            </a:pPr>
            <a:r>
              <a:rPr sz="1600" dirty="0"/>
              <a:t>27 rows with implausible diastolic BP near 0</a:t>
            </a:r>
          </a:p>
          <a:p>
            <a:pPr marL="285750" indent="-285750">
              <a:lnSpc>
                <a:spcPct val="100000"/>
              </a:lnSpc>
              <a:spcAft>
                <a:spcPts val="600"/>
              </a:spcAft>
              <a:buFont typeface="Wingdings" panose="05000000000000000000" pitchFamily="2" charset="2"/>
              <a:buChar char="§"/>
              <a:defRPr sz="1300">
                <a:solidFill>
                  <a:srgbClr val="000000"/>
                </a:solidFill>
                <a:latin typeface="Arial"/>
              </a:defRPr>
            </a:pPr>
            <a:r>
              <a:rPr sz="1600" dirty="0"/>
              <a:t>No missing/infinite values retained</a:t>
            </a:r>
          </a:p>
        </p:txBody>
      </p:sp>
      <p:sp>
        <p:nvSpPr>
          <p:cNvPr id="10" name="TextBox 9"/>
          <p:cNvSpPr txBox="1"/>
          <p:nvPr/>
        </p:nvSpPr>
        <p:spPr>
          <a:xfrm>
            <a:off x="731519" y="3530068"/>
            <a:ext cx="11288303" cy="529376"/>
          </a:xfrm>
          <a:prstGeom prst="rect">
            <a:avLst/>
          </a:prstGeom>
          <a:noFill/>
        </p:spPr>
        <p:txBody>
          <a:bodyPr wrap="square" lIns="27432" tIns="18288" rIns="27432" bIns="18288" anchor="t">
            <a:spAutoFit/>
          </a:bodyPr>
          <a:lstStyle/>
          <a:p>
            <a:r>
              <a:rPr sz="1600" b="0" dirty="0">
                <a:solidFill>
                  <a:srgbClr val="000000"/>
                </a:solidFill>
                <a:latin typeface="Arial"/>
              </a:rPr>
              <a:t>Causal discovery scripts standardize all variables; inference keeps BMI in original units and rescales only continuous treatments for interpretable 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lang="en-US" sz="2800" b="1" dirty="0">
                <a:solidFill>
                  <a:srgbClr val="17324D"/>
                </a:solidFill>
                <a:latin typeface="Arial"/>
              </a:rPr>
              <a:t>Chosen causal discovery methods</a:t>
            </a:r>
            <a:endParaRPr sz="2800" b="1" dirty="0">
              <a:solidFill>
                <a:srgbClr val="17324D"/>
              </a:solidFill>
              <a:latin typeface="Arial"/>
            </a:endParaRP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Methods</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4</a:t>
            </a:r>
          </a:p>
        </p:txBody>
      </p:sp>
      <p:graphicFrame>
        <p:nvGraphicFramePr>
          <p:cNvPr id="7" name="Table 6"/>
          <p:cNvGraphicFramePr>
            <a:graphicFrameLocks noGrp="1"/>
          </p:cNvGraphicFramePr>
          <p:nvPr>
            <p:extLst>
              <p:ext uri="{D42A27DB-BD31-4B8C-83A1-F6EECF244321}">
                <p14:modId xmlns:p14="http://schemas.microsoft.com/office/powerpoint/2010/main" val="4112166043"/>
              </p:ext>
            </p:extLst>
          </p:nvPr>
        </p:nvGraphicFramePr>
        <p:xfrm>
          <a:off x="777240" y="1905691"/>
          <a:ext cx="10680192" cy="2194560"/>
        </p:xfrm>
        <a:graphic>
          <a:graphicData uri="http://schemas.openxmlformats.org/drawingml/2006/table">
            <a:tbl>
              <a:tblPr firstRow="1" bandRow="1">
                <a:tableStyleId>{5C22544A-7EE6-4342-B048-85BDC9FD1C3A}</a:tableStyleId>
              </a:tblPr>
              <a:tblGrid>
                <a:gridCol w="2555943">
                  <a:extLst>
                    <a:ext uri="{9D8B030D-6E8A-4147-A177-3AD203B41FA5}">
                      <a16:colId xmlns:a16="http://schemas.microsoft.com/office/drawing/2014/main" val="20000"/>
                    </a:ext>
                  </a:extLst>
                </a:gridCol>
                <a:gridCol w="2190809">
                  <a:extLst>
                    <a:ext uri="{9D8B030D-6E8A-4147-A177-3AD203B41FA5}">
                      <a16:colId xmlns:a16="http://schemas.microsoft.com/office/drawing/2014/main" val="20001"/>
                    </a:ext>
                  </a:extLst>
                </a:gridCol>
                <a:gridCol w="5933440">
                  <a:extLst>
                    <a:ext uri="{9D8B030D-6E8A-4147-A177-3AD203B41FA5}">
                      <a16:colId xmlns:a16="http://schemas.microsoft.com/office/drawing/2014/main" val="20002"/>
                    </a:ext>
                  </a:extLst>
                </a:gridCol>
              </a:tblGrid>
              <a:tr h="548640">
                <a:tc>
                  <a:txBody>
                    <a:bodyPr/>
                    <a:lstStyle/>
                    <a:p>
                      <a:pPr algn="l"/>
                      <a:r>
                        <a:rPr sz="1400" b="1" dirty="0">
                          <a:solidFill>
                            <a:srgbClr val="FFFFFF"/>
                          </a:solidFill>
                          <a:latin typeface="Arial"/>
                        </a:rPr>
                        <a:t>Family</a:t>
                      </a:r>
                    </a:p>
                  </a:txBody>
                  <a:tcPr marL="45720" marR="45720" marT="27432" marB="27432" anchor="ctr">
                    <a:solidFill>
                      <a:srgbClr val="17324D"/>
                    </a:solidFill>
                  </a:tcPr>
                </a:tc>
                <a:tc>
                  <a:txBody>
                    <a:bodyPr/>
                    <a:lstStyle/>
                    <a:p>
                      <a:pPr algn="l"/>
                      <a:r>
                        <a:rPr sz="1400" b="1">
                          <a:solidFill>
                            <a:srgbClr val="FFFFFF"/>
                          </a:solidFill>
                          <a:latin typeface="Arial"/>
                        </a:rPr>
                        <a:t>Representative method</a:t>
                      </a:r>
                    </a:p>
                  </a:txBody>
                  <a:tcPr marL="45720" marR="45720" marT="27432" marB="27432" anchor="ctr">
                    <a:solidFill>
                      <a:srgbClr val="17324D"/>
                    </a:solidFill>
                  </a:tcPr>
                </a:tc>
                <a:tc>
                  <a:txBody>
                    <a:bodyPr/>
                    <a:lstStyle/>
                    <a:p>
                      <a:pPr algn="l"/>
                      <a:r>
                        <a:rPr sz="1400" b="1">
                          <a:solidFill>
                            <a:srgbClr val="FFFFFF"/>
                          </a:solidFill>
                          <a:latin typeface="Arial"/>
                        </a:rPr>
                        <a:t>Identifying idea</a:t>
                      </a:r>
                    </a:p>
                  </a:txBody>
                  <a:tcPr marL="45720" marR="45720" marT="27432" marB="27432" anchor="ctr">
                    <a:solidFill>
                      <a:srgbClr val="17324D"/>
                    </a:solidFill>
                  </a:tcPr>
                </a:tc>
                <a:extLst>
                  <a:ext uri="{0D108BD9-81ED-4DB2-BD59-A6C34878D82A}">
                    <a16:rowId xmlns:a16="http://schemas.microsoft.com/office/drawing/2014/main" val="10000"/>
                  </a:ext>
                </a:extLst>
              </a:tr>
              <a:tr h="548640">
                <a:tc>
                  <a:txBody>
                    <a:bodyPr/>
                    <a:lstStyle/>
                    <a:p>
                      <a:pPr algn="l"/>
                      <a:r>
                        <a:rPr sz="1400" b="0" dirty="0">
                          <a:solidFill>
                            <a:srgbClr val="000000"/>
                          </a:solidFill>
                          <a:latin typeface="Arial"/>
                        </a:rPr>
                        <a:t>Constraint-based</a:t>
                      </a:r>
                    </a:p>
                  </a:txBody>
                  <a:tcPr marL="45720" marR="45720" marT="27432" marB="27432" anchor="ctr">
                    <a:solidFill>
                      <a:srgbClr val="FFFFFF"/>
                    </a:solidFill>
                  </a:tcPr>
                </a:tc>
                <a:tc>
                  <a:txBody>
                    <a:bodyPr/>
                    <a:lstStyle/>
                    <a:p>
                      <a:pPr algn="l"/>
                      <a:r>
                        <a:rPr sz="1400" b="0" dirty="0">
                          <a:solidFill>
                            <a:srgbClr val="000000"/>
                          </a:solidFill>
                          <a:latin typeface="Arial"/>
                        </a:rPr>
                        <a:t>PC</a:t>
                      </a:r>
                    </a:p>
                  </a:txBody>
                  <a:tcPr marL="45720" marR="45720" marT="27432" marB="27432" anchor="ctr">
                    <a:solidFill>
                      <a:srgbClr val="FFFFFF"/>
                    </a:solidFill>
                  </a:tcPr>
                </a:tc>
                <a:tc>
                  <a:txBody>
                    <a:bodyPr/>
                    <a:lstStyle/>
                    <a:p>
                      <a:pPr algn="l"/>
                      <a:r>
                        <a:rPr sz="1400" b="0">
                          <a:solidFill>
                            <a:srgbClr val="000000"/>
                          </a:solidFill>
                          <a:latin typeface="Arial"/>
                        </a:rPr>
                        <a:t>Conditional independences + Markov/faithfulness</a:t>
                      </a:r>
                    </a:p>
                  </a:txBody>
                  <a:tcPr marL="45720" marR="45720" marT="27432" marB="27432" anchor="ctr">
                    <a:solidFill>
                      <a:srgbClr val="FFFFFF"/>
                    </a:solidFill>
                  </a:tcPr>
                </a:tc>
                <a:extLst>
                  <a:ext uri="{0D108BD9-81ED-4DB2-BD59-A6C34878D82A}">
                    <a16:rowId xmlns:a16="http://schemas.microsoft.com/office/drawing/2014/main" val="10001"/>
                  </a:ext>
                </a:extLst>
              </a:tr>
              <a:tr h="548640">
                <a:tc>
                  <a:txBody>
                    <a:bodyPr/>
                    <a:lstStyle/>
                    <a:p>
                      <a:pPr algn="l"/>
                      <a:r>
                        <a:rPr sz="1400" b="0">
                          <a:solidFill>
                            <a:srgbClr val="000000"/>
                          </a:solidFill>
                          <a:latin typeface="Arial"/>
                        </a:rPr>
                        <a:t>Linear non-Gaussian</a:t>
                      </a:r>
                    </a:p>
                  </a:txBody>
                  <a:tcPr marL="45720" marR="45720" marT="27432" marB="27432" anchor="ctr">
                    <a:solidFill>
                      <a:srgbClr val="FAFAFA"/>
                    </a:solidFill>
                  </a:tcPr>
                </a:tc>
                <a:tc>
                  <a:txBody>
                    <a:bodyPr/>
                    <a:lstStyle/>
                    <a:p>
                      <a:pPr algn="l"/>
                      <a:r>
                        <a:rPr sz="1400" b="0">
                          <a:solidFill>
                            <a:srgbClr val="000000"/>
                          </a:solidFill>
                          <a:latin typeface="Arial"/>
                        </a:rPr>
                        <a:t>DirectLiNGAM</a:t>
                      </a:r>
                    </a:p>
                  </a:txBody>
                  <a:tcPr marL="45720" marR="45720" marT="27432" marB="27432" anchor="ctr">
                    <a:solidFill>
                      <a:srgbClr val="FAFAFA"/>
                    </a:solidFill>
                  </a:tcPr>
                </a:tc>
                <a:tc>
                  <a:txBody>
                    <a:bodyPr/>
                    <a:lstStyle/>
                    <a:p>
                      <a:pPr algn="l"/>
                      <a:r>
                        <a:rPr sz="1400" b="0">
                          <a:solidFill>
                            <a:srgbClr val="000000"/>
                          </a:solidFill>
                          <a:latin typeface="Arial"/>
                        </a:rPr>
                        <a:t>Acyclic linear SEM with non-Gaussian noise</a:t>
                      </a:r>
                    </a:p>
                  </a:txBody>
                  <a:tcPr marL="45720" marR="45720" marT="27432" marB="27432" anchor="ctr">
                    <a:solidFill>
                      <a:srgbClr val="FAFAFA"/>
                    </a:solidFill>
                  </a:tcPr>
                </a:tc>
                <a:extLst>
                  <a:ext uri="{0D108BD9-81ED-4DB2-BD59-A6C34878D82A}">
                    <a16:rowId xmlns:a16="http://schemas.microsoft.com/office/drawing/2014/main" val="10002"/>
                  </a:ext>
                </a:extLst>
              </a:tr>
              <a:tr h="548640">
                <a:tc>
                  <a:txBody>
                    <a:bodyPr/>
                    <a:lstStyle/>
                    <a:p>
                      <a:pPr algn="l"/>
                      <a:r>
                        <a:rPr sz="1400" b="0">
                          <a:solidFill>
                            <a:srgbClr val="000000"/>
                          </a:solidFill>
                          <a:latin typeface="Arial"/>
                        </a:rPr>
                        <a:t>Nonlinear additive noise</a:t>
                      </a:r>
                    </a:p>
                  </a:txBody>
                  <a:tcPr marL="45720" marR="45720" marT="27432" marB="27432" anchor="ctr">
                    <a:solidFill>
                      <a:srgbClr val="FFFFFF"/>
                    </a:solidFill>
                  </a:tcPr>
                </a:tc>
                <a:tc>
                  <a:txBody>
                    <a:bodyPr/>
                    <a:lstStyle/>
                    <a:p>
                      <a:pPr algn="l"/>
                      <a:r>
                        <a:rPr sz="1400" b="0">
                          <a:solidFill>
                            <a:srgbClr val="000000"/>
                          </a:solidFill>
                          <a:latin typeface="Arial"/>
                        </a:rPr>
                        <a:t>RESIT</a:t>
                      </a:r>
                    </a:p>
                  </a:txBody>
                  <a:tcPr marL="45720" marR="45720" marT="27432" marB="27432" anchor="ctr">
                    <a:solidFill>
                      <a:srgbClr val="FFFFFF"/>
                    </a:solidFill>
                  </a:tcPr>
                </a:tc>
                <a:tc>
                  <a:txBody>
                    <a:bodyPr/>
                    <a:lstStyle/>
                    <a:p>
                      <a:pPr algn="l"/>
                      <a:r>
                        <a:rPr sz="1400" b="0" dirty="0">
                          <a:solidFill>
                            <a:srgbClr val="000000"/>
                          </a:solidFill>
                          <a:latin typeface="Arial"/>
                        </a:rPr>
                        <a:t>Regress causes/effects and test residual independence</a:t>
                      </a:r>
                    </a:p>
                  </a:txBody>
                  <a:tcPr marL="45720" marR="45720"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Graph selection criteria for downstream inference</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Graph selection</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5</a:t>
            </a:r>
          </a:p>
        </p:txBody>
      </p:sp>
      <p:sp>
        <p:nvSpPr>
          <p:cNvPr id="6" name="TextBox 5"/>
          <p:cNvSpPr txBox="1"/>
          <p:nvPr/>
        </p:nvSpPr>
        <p:spPr>
          <a:xfrm>
            <a:off x="822960" y="1234440"/>
            <a:ext cx="2743200" cy="283154"/>
          </a:xfrm>
          <a:prstGeom prst="rect">
            <a:avLst/>
          </a:prstGeom>
          <a:noFill/>
        </p:spPr>
        <p:txBody>
          <a:bodyPr wrap="square" lIns="27432" tIns="18288" rIns="27432" bIns="18288" anchor="t">
            <a:spAutoFit/>
          </a:bodyPr>
          <a:lstStyle/>
          <a:p>
            <a:r>
              <a:rPr sz="1600" b="1" dirty="0">
                <a:solidFill>
                  <a:srgbClr val="287D7A"/>
                </a:solidFill>
                <a:latin typeface="Arial"/>
              </a:rPr>
              <a:t>Acyclicity</a:t>
            </a:r>
          </a:p>
        </p:txBody>
      </p:sp>
      <p:sp>
        <p:nvSpPr>
          <p:cNvPr id="7" name="TextBox 6"/>
          <p:cNvSpPr txBox="1"/>
          <p:nvPr/>
        </p:nvSpPr>
        <p:spPr>
          <a:xfrm>
            <a:off x="3322320" y="1234440"/>
            <a:ext cx="8046720" cy="283154"/>
          </a:xfrm>
          <a:prstGeom prst="rect">
            <a:avLst/>
          </a:prstGeom>
          <a:noFill/>
        </p:spPr>
        <p:txBody>
          <a:bodyPr wrap="square" lIns="27432" tIns="18288" rIns="27432" bIns="18288" anchor="t">
            <a:spAutoFit/>
          </a:bodyPr>
          <a:lstStyle/>
          <a:p>
            <a:r>
              <a:rPr sz="1600" b="0" dirty="0">
                <a:solidFill>
                  <a:srgbClr val="000000"/>
                </a:solidFill>
                <a:latin typeface="Arial"/>
              </a:rPr>
              <a:t>Backdoor identification and </a:t>
            </a:r>
            <a:r>
              <a:rPr sz="1600" b="0" dirty="0" err="1">
                <a:solidFill>
                  <a:srgbClr val="000000"/>
                </a:solidFill>
                <a:latin typeface="Arial"/>
              </a:rPr>
              <a:t>DoWhy</a:t>
            </a:r>
            <a:r>
              <a:rPr sz="1600" b="0" dirty="0">
                <a:solidFill>
                  <a:srgbClr val="000000"/>
                </a:solidFill>
                <a:latin typeface="Arial"/>
              </a:rPr>
              <a:t> estimation require a DAG.</a:t>
            </a:r>
          </a:p>
        </p:txBody>
      </p:sp>
      <p:sp>
        <p:nvSpPr>
          <p:cNvPr id="8" name="TextBox 7"/>
          <p:cNvSpPr txBox="1"/>
          <p:nvPr/>
        </p:nvSpPr>
        <p:spPr>
          <a:xfrm>
            <a:off x="822960" y="2194560"/>
            <a:ext cx="2150585" cy="283154"/>
          </a:xfrm>
          <a:prstGeom prst="rect">
            <a:avLst/>
          </a:prstGeom>
          <a:noFill/>
        </p:spPr>
        <p:txBody>
          <a:bodyPr wrap="square" lIns="27432" tIns="18288" rIns="27432" bIns="18288" anchor="t">
            <a:spAutoFit/>
          </a:bodyPr>
          <a:lstStyle/>
          <a:p>
            <a:r>
              <a:rPr sz="1600" b="1" dirty="0">
                <a:solidFill>
                  <a:srgbClr val="287D7A"/>
                </a:solidFill>
                <a:latin typeface="Arial"/>
              </a:rPr>
              <a:t>Temporal</a:t>
            </a:r>
            <a:r>
              <a:rPr lang="en-US" sz="1600" b="1" dirty="0">
                <a:solidFill>
                  <a:srgbClr val="287D7A"/>
                </a:solidFill>
                <a:latin typeface="Arial"/>
              </a:rPr>
              <a:t> </a:t>
            </a:r>
            <a:r>
              <a:rPr sz="1600" b="1" dirty="0">
                <a:solidFill>
                  <a:srgbClr val="287D7A"/>
                </a:solidFill>
                <a:latin typeface="Arial"/>
              </a:rPr>
              <a:t>plausibility</a:t>
            </a:r>
          </a:p>
        </p:txBody>
      </p:sp>
      <p:sp>
        <p:nvSpPr>
          <p:cNvPr id="9" name="TextBox 8"/>
          <p:cNvSpPr txBox="1"/>
          <p:nvPr/>
        </p:nvSpPr>
        <p:spPr>
          <a:xfrm>
            <a:off x="3322320" y="2194560"/>
            <a:ext cx="8046720" cy="283154"/>
          </a:xfrm>
          <a:prstGeom prst="rect">
            <a:avLst/>
          </a:prstGeom>
          <a:noFill/>
        </p:spPr>
        <p:txBody>
          <a:bodyPr wrap="square" lIns="27432" tIns="18288" rIns="27432" bIns="18288" anchor="t">
            <a:spAutoFit/>
          </a:bodyPr>
          <a:lstStyle/>
          <a:p>
            <a:r>
              <a:rPr sz="1600" b="0">
                <a:solidFill>
                  <a:srgbClr val="000000"/>
                </a:solidFill>
                <a:latin typeface="Arial"/>
              </a:rPr>
              <a:t>Baseline variables should not be caused by later health measurements.</a:t>
            </a:r>
          </a:p>
        </p:txBody>
      </p:sp>
      <p:sp>
        <p:nvSpPr>
          <p:cNvPr id="10" name="TextBox 9"/>
          <p:cNvSpPr txBox="1"/>
          <p:nvPr/>
        </p:nvSpPr>
        <p:spPr>
          <a:xfrm>
            <a:off x="822960" y="3154680"/>
            <a:ext cx="2743200" cy="283154"/>
          </a:xfrm>
          <a:prstGeom prst="rect">
            <a:avLst/>
          </a:prstGeom>
          <a:noFill/>
        </p:spPr>
        <p:txBody>
          <a:bodyPr wrap="square" lIns="27432" tIns="18288" rIns="27432" bIns="18288" anchor="t">
            <a:spAutoFit/>
          </a:bodyPr>
          <a:lstStyle/>
          <a:p>
            <a:r>
              <a:rPr sz="1600" b="1" dirty="0">
                <a:solidFill>
                  <a:srgbClr val="287D7A"/>
                </a:solidFill>
                <a:latin typeface="Arial"/>
              </a:rPr>
              <a:t>Treatment connectivity</a:t>
            </a:r>
          </a:p>
        </p:txBody>
      </p:sp>
      <p:sp>
        <p:nvSpPr>
          <p:cNvPr id="11" name="TextBox 10"/>
          <p:cNvSpPr txBox="1"/>
          <p:nvPr/>
        </p:nvSpPr>
        <p:spPr>
          <a:xfrm>
            <a:off x="3322320" y="3154680"/>
            <a:ext cx="8046720" cy="283154"/>
          </a:xfrm>
          <a:prstGeom prst="rect">
            <a:avLst/>
          </a:prstGeom>
          <a:noFill/>
        </p:spPr>
        <p:txBody>
          <a:bodyPr wrap="square" lIns="27432" tIns="18288" rIns="27432" bIns="18288" anchor="t">
            <a:spAutoFit/>
          </a:bodyPr>
          <a:lstStyle/>
          <a:p>
            <a:r>
              <a:rPr sz="1600" b="0" dirty="0">
                <a:solidFill>
                  <a:srgbClr val="000000"/>
                </a:solidFill>
                <a:latin typeface="Arial"/>
              </a:rPr>
              <a:t>Each predefined treatment should be an ancestor of BMI</a:t>
            </a:r>
            <a:r>
              <a:rPr lang="en-US" sz="1600" b="0" dirty="0">
                <a:solidFill>
                  <a:srgbClr val="000000"/>
                </a:solidFill>
                <a:latin typeface="Arial"/>
              </a:rPr>
              <a:t>.</a:t>
            </a:r>
            <a:endParaRPr sz="1600" b="0" dirty="0">
              <a:solidFill>
                <a:srgbClr val="000000"/>
              </a:solidFill>
              <a:latin typeface="Arial"/>
            </a:endParaRPr>
          </a:p>
        </p:txBody>
      </p:sp>
      <p:sp>
        <p:nvSpPr>
          <p:cNvPr id="12" name="TextBox 11"/>
          <p:cNvSpPr txBox="1"/>
          <p:nvPr/>
        </p:nvSpPr>
        <p:spPr>
          <a:xfrm>
            <a:off x="822960" y="4114800"/>
            <a:ext cx="2743200" cy="283154"/>
          </a:xfrm>
          <a:prstGeom prst="rect">
            <a:avLst/>
          </a:prstGeom>
          <a:noFill/>
        </p:spPr>
        <p:txBody>
          <a:bodyPr wrap="square" lIns="27432" tIns="18288" rIns="27432" bIns="18288" anchor="t">
            <a:spAutoFit/>
          </a:bodyPr>
          <a:lstStyle/>
          <a:p>
            <a:r>
              <a:rPr sz="1600" b="1">
                <a:solidFill>
                  <a:srgbClr val="287D7A"/>
                </a:solidFill>
                <a:latin typeface="Arial"/>
              </a:rPr>
              <a:t>Sparsity</a:t>
            </a:r>
          </a:p>
        </p:txBody>
      </p:sp>
      <p:sp>
        <p:nvSpPr>
          <p:cNvPr id="13" name="TextBox 12"/>
          <p:cNvSpPr txBox="1"/>
          <p:nvPr/>
        </p:nvSpPr>
        <p:spPr>
          <a:xfrm>
            <a:off x="3322320" y="4114800"/>
            <a:ext cx="8046720" cy="1021818"/>
          </a:xfrm>
          <a:prstGeom prst="rect">
            <a:avLst/>
          </a:prstGeom>
          <a:noFill/>
        </p:spPr>
        <p:txBody>
          <a:bodyPr wrap="square" lIns="27432" tIns="18288" rIns="27432" bIns="18288" anchor="t">
            <a:spAutoFit/>
          </a:bodyPr>
          <a:lstStyle/>
          <a:p>
            <a:r>
              <a:rPr lang="en-US" sz="1600" dirty="0"/>
              <a:t>Denser graphs can imply more backdoor paths and therefore larger adjustment sets. Conditioning on more variables creates increasingly specific covariate groups, within which some treatment levels may be rare or absent. This weakens overlap and makes estimation rely more on extrapolation.</a:t>
            </a:r>
            <a:endParaRPr lang="en-US" sz="1600" dirty="0">
              <a:solidFill>
                <a:schemeClr val="tx2">
                  <a:lumMod val="85000"/>
                  <a:lumOff val="1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Unconstrained PC</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Graph discovery</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6</a:t>
            </a:r>
          </a:p>
        </p:txBody>
      </p:sp>
      <p:pic>
        <p:nvPicPr>
          <p:cNvPr id="6" name="Picture 5" descr="pc_unconstrained_alpha_005.png"/>
          <p:cNvPicPr>
            <a:picLocks noChangeAspect="1"/>
          </p:cNvPicPr>
          <p:nvPr/>
        </p:nvPicPr>
        <p:blipFill>
          <a:blip r:embed="rId2"/>
          <a:stretch>
            <a:fillRect/>
          </a:stretch>
        </p:blipFill>
        <p:spPr>
          <a:xfrm>
            <a:off x="731520" y="1276189"/>
            <a:ext cx="7132320" cy="4342436"/>
          </a:xfrm>
          <a:prstGeom prst="rect">
            <a:avLst/>
          </a:prstGeom>
        </p:spPr>
      </p:pic>
      <p:sp>
        <p:nvSpPr>
          <p:cNvPr id="7" name="TextBox 6"/>
          <p:cNvSpPr txBox="1"/>
          <p:nvPr/>
        </p:nvSpPr>
        <p:spPr>
          <a:xfrm>
            <a:off x="7818120" y="1120621"/>
            <a:ext cx="3200400" cy="283154"/>
          </a:xfrm>
          <a:prstGeom prst="rect">
            <a:avLst/>
          </a:prstGeom>
          <a:noFill/>
        </p:spPr>
        <p:txBody>
          <a:bodyPr wrap="square" lIns="27432" tIns="18288" rIns="27432" bIns="18288" anchor="t">
            <a:spAutoFit/>
          </a:bodyPr>
          <a:lstStyle/>
          <a:p>
            <a:r>
              <a:rPr sz="1600" b="1" dirty="0">
                <a:solidFill>
                  <a:srgbClr val="287D7A"/>
                </a:solidFill>
                <a:latin typeface="Arial"/>
              </a:rPr>
              <a:t>Observed issue</a:t>
            </a:r>
          </a:p>
        </p:txBody>
      </p:sp>
      <p:sp>
        <p:nvSpPr>
          <p:cNvPr id="8" name="TextBox 7"/>
          <p:cNvSpPr txBox="1"/>
          <p:nvPr/>
        </p:nvSpPr>
        <p:spPr>
          <a:xfrm>
            <a:off x="7818120" y="1435950"/>
            <a:ext cx="3474720" cy="3071610"/>
          </a:xfrm>
          <a:prstGeom prst="rect">
            <a:avLst/>
          </a:prstGeom>
          <a:noFill/>
        </p:spPr>
        <p:txBody>
          <a:bodyPr wrap="square" lIns="45720" tIns="27432" rIns="45720" bIns="27432">
            <a:spAutoFit/>
          </a:bodyPr>
          <a:lstStyle/>
          <a:p>
            <a:pPr marL="285750" indent="-285750">
              <a:lnSpc>
                <a:spcPct val="100000"/>
              </a:lnSpc>
              <a:spcAft>
                <a:spcPts val="600"/>
              </a:spcAft>
              <a:buFont typeface="Wingdings" panose="05000000000000000000" pitchFamily="2" charset="2"/>
              <a:buChar char="§"/>
              <a:defRPr sz="1400">
                <a:solidFill>
                  <a:srgbClr val="000000"/>
                </a:solidFill>
                <a:latin typeface="Arial"/>
              </a:defRPr>
            </a:pPr>
            <a:r>
              <a:rPr sz="1600" dirty="0"/>
              <a:t>PC learns a skeleton first and orients only what the data identify.</a:t>
            </a:r>
          </a:p>
          <a:p>
            <a:pPr marL="285750" indent="-285750">
              <a:lnSpc>
                <a:spcPct val="100000"/>
              </a:lnSpc>
              <a:spcAft>
                <a:spcPts val="600"/>
              </a:spcAft>
              <a:buFont typeface="Wingdings" panose="05000000000000000000" pitchFamily="2" charset="2"/>
              <a:buChar char="§"/>
              <a:defRPr sz="1400">
                <a:solidFill>
                  <a:srgbClr val="000000"/>
                </a:solidFill>
                <a:latin typeface="Arial"/>
              </a:defRPr>
            </a:pPr>
            <a:r>
              <a:rPr sz="1600" dirty="0"/>
              <a:t>Cross-sectional NHANES does not determine many directions unambiguously.</a:t>
            </a:r>
          </a:p>
          <a:p>
            <a:pPr marL="285750" indent="-285750">
              <a:lnSpc>
                <a:spcPct val="100000"/>
              </a:lnSpc>
              <a:spcAft>
                <a:spcPts val="600"/>
              </a:spcAft>
              <a:buFont typeface="Wingdings" panose="05000000000000000000" pitchFamily="2" charset="2"/>
              <a:buChar char="§"/>
              <a:defRPr sz="1400">
                <a:solidFill>
                  <a:srgbClr val="000000"/>
                </a:solidFill>
                <a:latin typeface="Arial"/>
              </a:defRPr>
            </a:pPr>
            <a:r>
              <a:rPr sz="1600" dirty="0"/>
              <a:t>Some orientations put BMI/BP upstream of diet, behavior, or demographics.</a:t>
            </a:r>
          </a:p>
          <a:p>
            <a:pPr marL="285750" indent="-285750">
              <a:lnSpc>
                <a:spcPct val="100000"/>
              </a:lnSpc>
              <a:spcAft>
                <a:spcPts val="600"/>
              </a:spcAft>
              <a:buFont typeface="Wingdings" panose="05000000000000000000" pitchFamily="2" charset="2"/>
              <a:buChar char="à"/>
              <a:defRPr sz="1400">
                <a:solidFill>
                  <a:srgbClr val="000000"/>
                </a:solidFill>
                <a:latin typeface="Arial"/>
              </a:defRPr>
            </a:pPr>
            <a:r>
              <a:rPr sz="1600" dirty="0"/>
              <a:t>Those graphs are not suitable for</a:t>
            </a:r>
            <a:br>
              <a:rPr lang="en-GB" sz="1600" dirty="0"/>
            </a:br>
            <a:r>
              <a:rPr sz="1600" dirty="0"/>
              <a:t>the planned treatment-to-BMI ATE queries.</a:t>
            </a:r>
          </a:p>
        </p:txBody>
      </p:sp>
      <p:sp>
        <p:nvSpPr>
          <p:cNvPr id="9" name="TextBox 8"/>
          <p:cNvSpPr txBox="1"/>
          <p:nvPr/>
        </p:nvSpPr>
        <p:spPr>
          <a:xfrm>
            <a:off x="731520" y="5840548"/>
            <a:ext cx="5669280" cy="190821"/>
          </a:xfrm>
          <a:prstGeom prst="rect">
            <a:avLst/>
          </a:prstGeom>
          <a:noFill/>
        </p:spPr>
        <p:txBody>
          <a:bodyPr wrap="square" lIns="27432" tIns="18288" rIns="27432" bIns="18288" anchor="t">
            <a:spAutoFit/>
          </a:bodyPr>
          <a:lstStyle/>
          <a:p>
            <a:r>
              <a:rPr sz="1000" b="0" dirty="0">
                <a:solidFill>
                  <a:schemeClr val="tx2">
                    <a:lumMod val="85000"/>
                    <a:lumOff val="15000"/>
                  </a:schemeClr>
                </a:solidFill>
                <a:latin typeface="Arial"/>
              </a:rPr>
              <a:t>Unconstrained PC at α = 0.05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Moderate constraints</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Constraints</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7</a:t>
            </a:r>
          </a:p>
        </p:txBody>
      </p:sp>
      <p:sp>
        <p:nvSpPr>
          <p:cNvPr id="6" name="TextBox 5"/>
          <p:cNvSpPr txBox="1"/>
          <p:nvPr/>
        </p:nvSpPr>
        <p:spPr>
          <a:xfrm>
            <a:off x="731520" y="991695"/>
            <a:ext cx="10241280" cy="411480"/>
          </a:xfrm>
          <a:prstGeom prst="rect">
            <a:avLst/>
          </a:prstGeom>
          <a:noFill/>
        </p:spPr>
        <p:txBody>
          <a:bodyPr wrap="square" lIns="27432" tIns="18288" rIns="27432" bIns="18288" anchor="t">
            <a:spAutoFit/>
          </a:bodyPr>
          <a:lstStyle/>
          <a:p>
            <a:r>
              <a:rPr sz="1600" b="0" dirty="0">
                <a:solidFill>
                  <a:srgbClr val="000000"/>
                </a:solidFill>
                <a:latin typeface="Arial"/>
              </a:rPr>
              <a:t>Initial constraints forbid later-tier variables from causing earlier-tier variables, while allowing same-tier edges.</a:t>
            </a:r>
          </a:p>
        </p:txBody>
      </p:sp>
      <p:graphicFrame>
        <p:nvGraphicFramePr>
          <p:cNvPr id="7" name="Table 6"/>
          <p:cNvGraphicFramePr>
            <a:graphicFrameLocks noGrp="1"/>
          </p:cNvGraphicFramePr>
          <p:nvPr>
            <p:extLst>
              <p:ext uri="{D42A27DB-BD31-4B8C-83A1-F6EECF244321}">
                <p14:modId xmlns:p14="http://schemas.microsoft.com/office/powerpoint/2010/main" val="486190072"/>
              </p:ext>
            </p:extLst>
          </p:nvPr>
        </p:nvGraphicFramePr>
        <p:xfrm>
          <a:off x="731520" y="1524088"/>
          <a:ext cx="10625744" cy="1750314"/>
        </p:xfrm>
        <a:graphic>
          <a:graphicData uri="http://schemas.openxmlformats.org/drawingml/2006/table">
            <a:tbl>
              <a:tblPr firstRow="1" bandRow="1">
                <a:tableStyleId>{5C22544A-7EE6-4342-B048-85BDC9FD1C3A}</a:tableStyleId>
              </a:tblPr>
              <a:tblGrid>
                <a:gridCol w="813887">
                  <a:extLst>
                    <a:ext uri="{9D8B030D-6E8A-4147-A177-3AD203B41FA5}">
                      <a16:colId xmlns:a16="http://schemas.microsoft.com/office/drawing/2014/main" val="20000"/>
                    </a:ext>
                  </a:extLst>
                </a:gridCol>
                <a:gridCol w="2441660">
                  <a:extLst>
                    <a:ext uri="{9D8B030D-6E8A-4147-A177-3AD203B41FA5}">
                      <a16:colId xmlns:a16="http://schemas.microsoft.com/office/drawing/2014/main" val="20001"/>
                    </a:ext>
                  </a:extLst>
                </a:gridCol>
                <a:gridCol w="7370197">
                  <a:extLst>
                    <a:ext uri="{9D8B030D-6E8A-4147-A177-3AD203B41FA5}">
                      <a16:colId xmlns:a16="http://schemas.microsoft.com/office/drawing/2014/main" val="20002"/>
                    </a:ext>
                  </a:extLst>
                </a:gridCol>
              </a:tblGrid>
              <a:tr h="422910">
                <a:tc>
                  <a:txBody>
                    <a:bodyPr/>
                    <a:lstStyle/>
                    <a:p>
                      <a:pPr algn="l"/>
                      <a:r>
                        <a:rPr sz="1400" b="1" dirty="0">
                          <a:solidFill>
                            <a:srgbClr val="FFFFFF"/>
                          </a:solidFill>
                          <a:latin typeface="Arial"/>
                        </a:rPr>
                        <a:t>Tier</a:t>
                      </a:r>
                    </a:p>
                  </a:txBody>
                  <a:tcPr marL="45720" marR="45720" marT="27432" marB="27432" anchor="ctr">
                    <a:solidFill>
                      <a:srgbClr val="17324D"/>
                    </a:solidFill>
                  </a:tcPr>
                </a:tc>
                <a:tc>
                  <a:txBody>
                    <a:bodyPr/>
                    <a:lstStyle/>
                    <a:p>
                      <a:pPr algn="l"/>
                      <a:r>
                        <a:rPr sz="1400" b="1" dirty="0">
                          <a:solidFill>
                            <a:srgbClr val="FFFFFF"/>
                          </a:solidFill>
                          <a:latin typeface="Arial"/>
                        </a:rPr>
                        <a:t>Group</a:t>
                      </a:r>
                    </a:p>
                  </a:txBody>
                  <a:tcPr marL="45720" marR="45720" marT="27432" marB="27432" anchor="ctr">
                    <a:solidFill>
                      <a:srgbClr val="17324D"/>
                    </a:solidFill>
                  </a:tcPr>
                </a:tc>
                <a:tc>
                  <a:txBody>
                    <a:bodyPr/>
                    <a:lstStyle/>
                    <a:p>
                      <a:pPr algn="l"/>
                      <a:r>
                        <a:rPr sz="1400" b="1">
                          <a:solidFill>
                            <a:srgbClr val="FFFFFF"/>
                          </a:solidFill>
                          <a:latin typeface="Arial"/>
                        </a:rPr>
                        <a:t>Variables</a:t>
                      </a:r>
                    </a:p>
                  </a:txBody>
                  <a:tcPr marL="45720" marR="45720" marT="27432" marB="27432" anchor="ctr">
                    <a:solidFill>
                      <a:srgbClr val="17324D"/>
                    </a:solidFill>
                  </a:tcPr>
                </a:tc>
                <a:extLst>
                  <a:ext uri="{0D108BD9-81ED-4DB2-BD59-A6C34878D82A}">
                    <a16:rowId xmlns:a16="http://schemas.microsoft.com/office/drawing/2014/main" val="10000"/>
                  </a:ext>
                </a:extLst>
              </a:tr>
              <a:tr h="422910">
                <a:tc>
                  <a:txBody>
                    <a:bodyPr/>
                    <a:lstStyle/>
                    <a:p>
                      <a:pPr algn="l"/>
                      <a:r>
                        <a:rPr sz="1400" b="0">
                          <a:solidFill>
                            <a:srgbClr val="000000"/>
                          </a:solidFill>
                          <a:latin typeface="Arial"/>
                        </a:rPr>
                        <a:t>0</a:t>
                      </a:r>
                    </a:p>
                  </a:txBody>
                  <a:tcPr marL="45720" marR="45720" marT="27432" marB="27432" anchor="ctr">
                    <a:solidFill>
                      <a:srgbClr val="FFFFFF"/>
                    </a:solidFill>
                  </a:tcPr>
                </a:tc>
                <a:tc>
                  <a:txBody>
                    <a:bodyPr/>
                    <a:lstStyle/>
                    <a:p>
                      <a:pPr algn="l"/>
                      <a:r>
                        <a:rPr sz="1400" b="0" dirty="0">
                          <a:solidFill>
                            <a:srgbClr val="000000"/>
                          </a:solidFill>
                          <a:latin typeface="Arial"/>
                        </a:rPr>
                        <a:t>Demographic</a:t>
                      </a:r>
                    </a:p>
                  </a:txBody>
                  <a:tcPr marL="45720" marR="45720" marT="27432" marB="27432" anchor="ctr">
                    <a:solidFill>
                      <a:srgbClr val="FFFFFF"/>
                    </a:solidFill>
                  </a:tcPr>
                </a:tc>
                <a:tc>
                  <a:txBody>
                    <a:bodyPr/>
                    <a:lstStyle/>
                    <a:p>
                      <a:pPr algn="l"/>
                      <a:r>
                        <a:rPr sz="1400" b="0">
                          <a:solidFill>
                            <a:srgbClr val="000000"/>
                          </a:solidFill>
                          <a:latin typeface="Arial"/>
                        </a:rPr>
                        <a:t>Age, Gender, Income Ratio</a:t>
                      </a:r>
                    </a:p>
                  </a:txBody>
                  <a:tcPr marL="45720" marR="45720" marT="27432" marB="27432" anchor="ctr">
                    <a:solidFill>
                      <a:srgbClr val="FFFFFF"/>
                    </a:solidFill>
                  </a:tcPr>
                </a:tc>
                <a:extLst>
                  <a:ext uri="{0D108BD9-81ED-4DB2-BD59-A6C34878D82A}">
                    <a16:rowId xmlns:a16="http://schemas.microsoft.com/office/drawing/2014/main" val="10001"/>
                  </a:ext>
                </a:extLst>
              </a:tr>
              <a:tr h="422910">
                <a:tc>
                  <a:txBody>
                    <a:bodyPr/>
                    <a:lstStyle/>
                    <a:p>
                      <a:pPr algn="l"/>
                      <a:r>
                        <a:rPr sz="1400" b="0" dirty="0">
                          <a:solidFill>
                            <a:srgbClr val="000000"/>
                          </a:solidFill>
                          <a:latin typeface="Arial"/>
                        </a:rPr>
                        <a:t>1</a:t>
                      </a:r>
                    </a:p>
                  </a:txBody>
                  <a:tcPr marL="45720" marR="45720" marT="27432" marB="27432" anchor="ctr">
                    <a:solidFill>
                      <a:srgbClr val="FAFAFA"/>
                    </a:solidFill>
                  </a:tcPr>
                </a:tc>
                <a:tc>
                  <a:txBody>
                    <a:bodyPr/>
                    <a:lstStyle/>
                    <a:p>
                      <a:pPr algn="l"/>
                      <a:r>
                        <a:rPr sz="1400" b="0">
                          <a:solidFill>
                            <a:srgbClr val="000000"/>
                          </a:solidFill>
                          <a:latin typeface="Arial"/>
                        </a:rPr>
                        <a:t>Behavioral and dietary</a:t>
                      </a:r>
                    </a:p>
                  </a:txBody>
                  <a:tcPr marL="45720" marR="45720" marT="27432" marB="27432" anchor="ctr">
                    <a:solidFill>
                      <a:srgbClr val="FAFAFA"/>
                    </a:solidFill>
                  </a:tcPr>
                </a:tc>
                <a:tc>
                  <a:txBody>
                    <a:bodyPr/>
                    <a:lstStyle/>
                    <a:p>
                      <a:pPr algn="l"/>
                      <a:r>
                        <a:rPr sz="1400" b="0">
                          <a:solidFill>
                            <a:srgbClr val="000000"/>
                          </a:solidFill>
                          <a:latin typeface="Arial"/>
                        </a:rPr>
                        <a:t>Vigorous Activity, Sedentary Minutes, Total Calories, Protein, Carbohydrates, Total Sugars, Dietary Fiber</a:t>
                      </a:r>
                    </a:p>
                  </a:txBody>
                  <a:tcPr marL="45720" marR="45720" marT="27432" marB="27432" anchor="ctr">
                    <a:solidFill>
                      <a:srgbClr val="FAFAFA"/>
                    </a:solidFill>
                  </a:tcPr>
                </a:tc>
                <a:extLst>
                  <a:ext uri="{0D108BD9-81ED-4DB2-BD59-A6C34878D82A}">
                    <a16:rowId xmlns:a16="http://schemas.microsoft.com/office/drawing/2014/main" val="10002"/>
                  </a:ext>
                </a:extLst>
              </a:tr>
              <a:tr h="422910">
                <a:tc>
                  <a:txBody>
                    <a:bodyPr/>
                    <a:lstStyle/>
                    <a:p>
                      <a:pPr algn="l"/>
                      <a:r>
                        <a:rPr sz="1400" b="0">
                          <a:solidFill>
                            <a:srgbClr val="000000"/>
                          </a:solidFill>
                          <a:latin typeface="Arial"/>
                        </a:rPr>
                        <a:t>2</a:t>
                      </a:r>
                    </a:p>
                  </a:txBody>
                  <a:tcPr marL="45720" marR="45720" marT="27432" marB="27432" anchor="ctr">
                    <a:solidFill>
                      <a:srgbClr val="FFFFFF"/>
                    </a:solidFill>
                  </a:tcPr>
                </a:tc>
                <a:tc>
                  <a:txBody>
                    <a:bodyPr/>
                    <a:lstStyle/>
                    <a:p>
                      <a:pPr algn="l"/>
                      <a:r>
                        <a:rPr sz="1400" b="0" dirty="0">
                          <a:solidFill>
                            <a:srgbClr val="000000"/>
                          </a:solidFill>
                          <a:latin typeface="Arial"/>
                        </a:rPr>
                        <a:t>Cardiometabolic</a:t>
                      </a:r>
                    </a:p>
                  </a:txBody>
                  <a:tcPr marL="45720" marR="45720" marT="27432" marB="27432" anchor="ctr">
                    <a:solidFill>
                      <a:srgbClr val="FFFFFF"/>
                    </a:solidFill>
                  </a:tcPr>
                </a:tc>
                <a:tc>
                  <a:txBody>
                    <a:bodyPr/>
                    <a:lstStyle/>
                    <a:p>
                      <a:pPr algn="l"/>
                      <a:r>
                        <a:rPr sz="1400" b="0" dirty="0">
                          <a:solidFill>
                            <a:srgbClr val="000000"/>
                          </a:solidFill>
                          <a:latin typeface="Arial"/>
                        </a:rPr>
                        <a:t>BMI, Waist Circumference, Systolic BP, Diastolic BP</a:t>
                      </a:r>
                    </a:p>
                  </a:txBody>
                  <a:tcPr marL="45720" marR="45720"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731520" y="3755088"/>
            <a:ext cx="4572000" cy="283154"/>
          </a:xfrm>
          <a:prstGeom prst="rect">
            <a:avLst/>
          </a:prstGeom>
          <a:noFill/>
        </p:spPr>
        <p:txBody>
          <a:bodyPr wrap="square" lIns="27432" tIns="18288" rIns="27432" bIns="18288" anchor="t">
            <a:spAutoFit/>
          </a:bodyPr>
          <a:lstStyle/>
          <a:p>
            <a:r>
              <a:rPr sz="1600" b="1" dirty="0">
                <a:solidFill>
                  <a:srgbClr val="287D7A"/>
                </a:solidFill>
                <a:latin typeface="Arial"/>
              </a:rPr>
              <a:t>Constraint implementation differs by method</a:t>
            </a:r>
          </a:p>
        </p:txBody>
      </p:sp>
      <p:sp>
        <p:nvSpPr>
          <p:cNvPr id="9" name="TextBox 8"/>
          <p:cNvSpPr txBox="1"/>
          <p:nvPr/>
        </p:nvSpPr>
        <p:spPr>
          <a:xfrm>
            <a:off x="731520" y="4139739"/>
            <a:ext cx="10424160" cy="871008"/>
          </a:xfrm>
          <a:prstGeom prst="rect">
            <a:avLst/>
          </a:prstGeom>
          <a:noFill/>
        </p:spPr>
        <p:txBody>
          <a:bodyPr wrap="square" lIns="45720" tIns="27432" rIns="45720" bIns="27432">
            <a:spAutoFit/>
          </a:bodyPr>
          <a:lstStyle/>
          <a:p>
            <a:pPr marL="285750" indent="-285750">
              <a:lnSpc>
                <a:spcPct val="100000"/>
              </a:lnSpc>
              <a:spcAft>
                <a:spcPts val="600"/>
              </a:spcAft>
              <a:buFont typeface="Wingdings" panose="05000000000000000000" pitchFamily="2" charset="2"/>
              <a:buChar char="§"/>
              <a:defRPr sz="1400">
                <a:solidFill>
                  <a:srgbClr val="000000"/>
                </a:solidFill>
                <a:latin typeface="Arial"/>
              </a:defRPr>
            </a:pPr>
            <a:r>
              <a:rPr sz="1600" b="1" dirty="0"/>
              <a:t>PC</a:t>
            </a:r>
            <a:r>
              <a:rPr sz="1600" dirty="0"/>
              <a:t>: forbidden and required direct relations through causal-learn background knowledge.</a:t>
            </a:r>
          </a:p>
          <a:p>
            <a:pPr marL="285750" indent="-285750">
              <a:lnSpc>
                <a:spcPct val="100000"/>
              </a:lnSpc>
              <a:spcAft>
                <a:spcPts val="600"/>
              </a:spcAft>
              <a:buFont typeface="Wingdings" panose="05000000000000000000" pitchFamily="2" charset="2"/>
              <a:buChar char="§"/>
              <a:defRPr sz="1400">
                <a:solidFill>
                  <a:srgbClr val="000000"/>
                </a:solidFill>
                <a:latin typeface="Arial"/>
              </a:defRPr>
            </a:pPr>
            <a:r>
              <a:rPr sz="1600" b="1" dirty="0" err="1"/>
              <a:t>DirectLiNGAM</a:t>
            </a:r>
            <a:r>
              <a:rPr sz="1600" b="1" dirty="0"/>
              <a:t>/RESIT</a:t>
            </a:r>
            <a:r>
              <a:rPr sz="1600" dirty="0"/>
              <a:t>: forbidden directions through </a:t>
            </a:r>
            <a:r>
              <a:rPr sz="1600" dirty="0" err="1"/>
              <a:t>no_paths</a:t>
            </a:r>
            <a:r>
              <a:rPr sz="1600" dirty="0"/>
              <a:t> prior knowledge, which forbids ancestry rather than only a direct edge.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Moderate constraints</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Graph discovery</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8</a:t>
            </a:r>
          </a:p>
        </p:txBody>
      </p:sp>
      <p:sp>
        <p:nvSpPr>
          <p:cNvPr id="6" name="TextBox 5"/>
          <p:cNvSpPr txBox="1"/>
          <p:nvPr/>
        </p:nvSpPr>
        <p:spPr>
          <a:xfrm>
            <a:off x="731520" y="958727"/>
            <a:ext cx="10332720" cy="283154"/>
          </a:xfrm>
          <a:prstGeom prst="rect">
            <a:avLst/>
          </a:prstGeom>
          <a:noFill/>
        </p:spPr>
        <p:txBody>
          <a:bodyPr wrap="square" lIns="27432" tIns="18288" rIns="27432" bIns="18288" anchor="t">
            <a:spAutoFit/>
          </a:bodyPr>
          <a:lstStyle/>
          <a:p>
            <a:r>
              <a:rPr lang="en-US" sz="1600" b="0" dirty="0">
                <a:solidFill>
                  <a:srgbClr val="000000"/>
                </a:solidFill>
                <a:latin typeface="Arial"/>
              </a:rPr>
              <a:t>The </a:t>
            </a:r>
            <a:r>
              <a:rPr sz="1600" b="0" dirty="0">
                <a:solidFill>
                  <a:srgbClr val="000000"/>
                </a:solidFill>
                <a:latin typeface="Arial"/>
              </a:rPr>
              <a:t>table shows </a:t>
            </a:r>
            <a:r>
              <a:rPr lang="en-US" sz="1600" dirty="0">
                <a:solidFill>
                  <a:srgbClr val="000000"/>
                </a:solidFill>
                <a:latin typeface="Arial"/>
              </a:rPr>
              <a:t>examples</a:t>
            </a:r>
            <a:r>
              <a:rPr sz="1600" b="0" dirty="0">
                <a:solidFill>
                  <a:srgbClr val="000000"/>
                </a:solidFill>
                <a:latin typeface="Arial"/>
              </a:rPr>
              <a:t> that expose the main trade-offs.</a:t>
            </a:r>
          </a:p>
        </p:txBody>
      </p:sp>
      <p:graphicFrame>
        <p:nvGraphicFramePr>
          <p:cNvPr id="7" name="Table 6"/>
          <p:cNvGraphicFramePr>
            <a:graphicFrameLocks noGrp="1"/>
          </p:cNvGraphicFramePr>
          <p:nvPr>
            <p:extLst>
              <p:ext uri="{D42A27DB-BD31-4B8C-83A1-F6EECF244321}">
                <p14:modId xmlns:p14="http://schemas.microsoft.com/office/powerpoint/2010/main" val="2248974733"/>
              </p:ext>
            </p:extLst>
          </p:nvPr>
        </p:nvGraphicFramePr>
        <p:xfrm>
          <a:off x="731520" y="1476756"/>
          <a:ext cx="10789921" cy="3017520"/>
        </p:xfrm>
        <a:graphic>
          <a:graphicData uri="http://schemas.openxmlformats.org/drawingml/2006/table">
            <a:tbl>
              <a:tblPr firstRow="1" bandRow="1">
                <a:tableStyleId>{5C22544A-7EE6-4342-B048-85BDC9FD1C3A}</a:tableStyleId>
              </a:tblPr>
              <a:tblGrid>
                <a:gridCol w="1849701">
                  <a:extLst>
                    <a:ext uri="{9D8B030D-6E8A-4147-A177-3AD203B41FA5}">
                      <a16:colId xmlns:a16="http://schemas.microsoft.com/office/drawing/2014/main" val="20000"/>
                    </a:ext>
                  </a:extLst>
                </a:gridCol>
                <a:gridCol w="1937782">
                  <a:extLst>
                    <a:ext uri="{9D8B030D-6E8A-4147-A177-3AD203B41FA5}">
                      <a16:colId xmlns:a16="http://schemas.microsoft.com/office/drawing/2014/main" val="20001"/>
                    </a:ext>
                  </a:extLst>
                </a:gridCol>
                <a:gridCol w="748688">
                  <a:extLst>
                    <a:ext uri="{9D8B030D-6E8A-4147-A177-3AD203B41FA5}">
                      <a16:colId xmlns:a16="http://schemas.microsoft.com/office/drawing/2014/main" val="20002"/>
                    </a:ext>
                  </a:extLst>
                </a:gridCol>
                <a:gridCol w="904509">
                  <a:extLst>
                    <a:ext uri="{9D8B030D-6E8A-4147-A177-3AD203B41FA5}">
                      <a16:colId xmlns:a16="http://schemas.microsoft.com/office/drawing/2014/main" val="20003"/>
                    </a:ext>
                  </a:extLst>
                </a:gridCol>
                <a:gridCol w="5349241">
                  <a:extLst>
                    <a:ext uri="{9D8B030D-6E8A-4147-A177-3AD203B41FA5}">
                      <a16:colId xmlns:a16="http://schemas.microsoft.com/office/drawing/2014/main" val="20004"/>
                    </a:ext>
                  </a:extLst>
                </a:gridCol>
              </a:tblGrid>
              <a:tr h="502920">
                <a:tc>
                  <a:txBody>
                    <a:bodyPr/>
                    <a:lstStyle/>
                    <a:p>
                      <a:pPr algn="l"/>
                      <a:r>
                        <a:rPr sz="1400" b="1">
                          <a:solidFill>
                            <a:srgbClr val="FFFFFF"/>
                          </a:solidFill>
                          <a:latin typeface="Arial"/>
                        </a:rPr>
                        <a:t>Method</a:t>
                      </a:r>
                    </a:p>
                  </a:txBody>
                  <a:tcPr marL="45720" marR="45720" marT="27432" marB="27432" anchor="ctr">
                    <a:solidFill>
                      <a:srgbClr val="17324D"/>
                    </a:solidFill>
                  </a:tcPr>
                </a:tc>
                <a:tc>
                  <a:txBody>
                    <a:bodyPr/>
                    <a:lstStyle/>
                    <a:p>
                      <a:pPr algn="l"/>
                      <a:r>
                        <a:rPr sz="1400" b="1">
                          <a:solidFill>
                            <a:srgbClr val="FFFFFF"/>
                          </a:solidFill>
                          <a:latin typeface="Arial"/>
                        </a:rPr>
                        <a:t>Setting</a:t>
                      </a:r>
                    </a:p>
                  </a:txBody>
                  <a:tcPr marL="45720" marR="45720" marT="27432" marB="27432" anchor="ctr">
                    <a:solidFill>
                      <a:srgbClr val="17324D"/>
                    </a:solidFill>
                  </a:tcPr>
                </a:tc>
                <a:tc>
                  <a:txBody>
                    <a:bodyPr/>
                    <a:lstStyle/>
                    <a:p>
                      <a:pPr algn="l"/>
                      <a:r>
                        <a:rPr sz="1400" b="1">
                          <a:solidFill>
                            <a:srgbClr val="FFFFFF"/>
                          </a:solidFill>
                          <a:latin typeface="Arial"/>
                        </a:rPr>
                        <a:t>Edges</a:t>
                      </a:r>
                    </a:p>
                  </a:txBody>
                  <a:tcPr marL="45720" marR="45720" marT="27432" marB="27432" anchor="ctr">
                    <a:solidFill>
                      <a:srgbClr val="17324D"/>
                    </a:solidFill>
                  </a:tcPr>
                </a:tc>
                <a:tc>
                  <a:txBody>
                    <a:bodyPr/>
                    <a:lstStyle/>
                    <a:p>
                      <a:pPr algn="l"/>
                      <a:r>
                        <a:rPr sz="1400" b="1">
                          <a:solidFill>
                            <a:srgbClr val="FFFFFF"/>
                          </a:solidFill>
                          <a:latin typeface="Arial"/>
                        </a:rPr>
                        <a:t>All paths</a:t>
                      </a:r>
                    </a:p>
                  </a:txBody>
                  <a:tcPr marL="45720" marR="45720" marT="27432" marB="27432" anchor="ctr">
                    <a:solidFill>
                      <a:srgbClr val="17324D"/>
                    </a:solidFill>
                  </a:tcPr>
                </a:tc>
                <a:tc>
                  <a:txBody>
                    <a:bodyPr/>
                    <a:lstStyle/>
                    <a:p>
                      <a:pPr algn="l"/>
                      <a:r>
                        <a:rPr sz="1400" b="1">
                          <a:solidFill>
                            <a:srgbClr val="FFFFFF"/>
                          </a:solidFill>
                          <a:latin typeface="Arial"/>
                        </a:rPr>
                        <a:t>Main observation</a:t>
                      </a:r>
                    </a:p>
                  </a:txBody>
                  <a:tcPr marL="45720" marR="45720" marT="27432" marB="27432" anchor="ctr">
                    <a:solidFill>
                      <a:srgbClr val="17324D"/>
                    </a:solidFill>
                  </a:tcPr>
                </a:tc>
                <a:extLst>
                  <a:ext uri="{0D108BD9-81ED-4DB2-BD59-A6C34878D82A}">
                    <a16:rowId xmlns:a16="http://schemas.microsoft.com/office/drawing/2014/main" val="10000"/>
                  </a:ext>
                </a:extLst>
              </a:tr>
              <a:tr h="502920">
                <a:tc>
                  <a:txBody>
                    <a:bodyPr/>
                    <a:lstStyle/>
                    <a:p>
                      <a:pPr algn="l"/>
                      <a:r>
                        <a:rPr sz="1400" b="0" dirty="0">
                          <a:solidFill>
                            <a:srgbClr val="000000"/>
                          </a:solidFill>
                          <a:latin typeface="Arial"/>
                        </a:rPr>
                        <a:t>PC</a:t>
                      </a:r>
                    </a:p>
                  </a:txBody>
                  <a:tcPr marL="45720" marR="45720" marT="27432" marB="27432" anchor="ctr">
                    <a:solidFill>
                      <a:srgbClr val="FFFFFF"/>
                    </a:solidFill>
                  </a:tcPr>
                </a:tc>
                <a:tc>
                  <a:txBody>
                    <a:bodyPr/>
                    <a:lstStyle/>
                    <a:p>
                      <a:pPr algn="l"/>
                      <a:r>
                        <a:rPr sz="1400" b="0">
                          <a:solidFill>
                            <a:srgbClr val="000000"/>
                          </a:solidFill>
                          <a:latin typeface="Arial"/>
                        </a:rPr>
                        <a:t>α = 0.05</a:t>
                      </a:r>
                    </a:p>
                  </a:txBody>
                  <a:tcPr marL="45720" marR="45720" marT="27432" marB="27432" anchor="ctr">
                    <a:solidFill>
                      <a:srgbClr val="FFFFFF"/>
                    </a:solidFill>
                  </a:tcPr>
                </a:tc>
                <a:tc>
                  <a:txBody>
                    <a:bodyPr/>
                    <a:lstStyle/>
                    <a:p>
                      <a:pPr algn="l"/>
                      <a:r>
                        <a:rPr sz="1400" b="0">
                          <a:solidFill>
                            <a:srgbClr val="000000"/>
                          </a:solidFill>
                          <a:latin typeface="Arial"/>
                        </a:rPr>
                        <a:t>26</a:t>
                      </a:r>
                    </a:p>
                  </a:txBody>
                  <a:tcPr marL="45720" marR="45720" marT="27432" marB="27432" anchor="ctr">
                    <a:solidFill>
                      <a:srgbClr val="FFFFFF"/>
                    </a:solidFill>
                  </a:tcPr>
                </a:tc>
                <a:tc>
                  <a:txBody>
                    <a:bodyPr/>
                    <a:lstStyle/>
                    <a:p>
                      <a:pPr algn="l"/>
                      <a:r>
                        <a:rPr sz="1400" b="0">
                          <a:solidFill>
                            <a:srgbClr val="000000"/>
                          </a:solidFill>
                          <a:latin typeface="Arial"/>
                        </a:rPr>
                        <a:t>No</a:t>
                      </a:r>
                    </a:p>
                  </a:txBody>
                  <a:tcPr marL="45720" marR="45720" marT="27432" marB="27432" anchor="ctr">
                    <a:solidFill>
                      <a:srgbClr val="FFFFFF"/>
                    </a:solidFill>
                  </a:tcPr>
                </a:tc>
                <a:tc>
                  <a:txBody>
                    <a:bodyPr/>
                    <a:lstStyle/>
                    <a:p>
                      <a:pPr algn="l"/>
                      <a:r>
                        <a:rPr sz="1400" b="0">
                          <a:solidFill>
                            <a:srgbClr val="000000"/>
                          </a:solidFill>
                          <a:latin typeface="Arial"/>
                        </a:rPr>
                        <a:t>Sparse, but no treatment-to-BMI paths</a:t>
                      </a:r>
                    </a:p>
                  </a:txBody>
                  <a:tcPr marL="45720" marR="45720" marT="27432" marB="27432" anchor="ctr">
                    <a:solidFill>
                      <a:srgbClr val="FFFFFF"/>
                    </a:solidFill>
                  </a:tcPr>
                </a:tc>
                <a:extLst>
                  <a:ext uri="{0D108BD9-81ED-4DB2-BD59-A6C34878D82A}">
                    <a16:rowId xmlns:a16="http://schemas.microsoft.com/office/drawing/2014/main" val="10001"/>
                  </a:ext>
                </a:extLst>
              </a:tr>
              <a:tr h="502920">
                <a:tc>
                  <a:txBody>
                    <a:bodyPr/>
                    <a:lstStyle/>
                    <a:p>
                      <a:pPr algn="l"/>
                      <a:r>
                        <a:rPr sz="1400" b="0">
                          <a:solidFill>
                            <a:srgbClr val="000000"/>
                          </a:solidFill>
                          <a:latin typeface="Arial"/>
                        </a:rPr>
                        <a:t>PC</a:t>
                      </a:r>
                    </a:p>
                  </a:txBody>
                  <a:tcPr marL="45720" marR="45720" marT="27432" marB="27432" anchor="ctr">
                    <a:solidFill>
                      <a:srgbClr val="FAFAFA"/>
                    </a:solidFill>
                  </a:tcPr>
                </a:tc>
                <a:tc>
                  <a:txBody>
                    <a:bodyPr/>
                    <a:lstStyle/>
                    <a:p>
                      <a:pPr algn="l"/>
                      <a:r>
                        <a:rPr sz="1400" b="0">
                          <a:solidFill>
                            <a:srgbClr val="000000"/>
                          </a:solidFill>
                          <a:latin typeface="Arial"/>
                        </a:rPr>
                        <a:t>α = 0.70</a:t>
                      </a:r>
                    </a:p>
                  </a:txBody>
                  <a:tcPr marL="45720" marR="45720" marT="27432" marB="27432" anchor="ctr">
                    <a:solidFill>
                      <a:srgbClr val="FAFAFA"/>
                    </a:solidFill>
                  </a:tcPr>
                </a:tc>
                <a:tc>
                  <a:txBody>
                    <a:bodyPr/>
                    <a:lstStyle/>
                    <a:p>
                      <a:pPr algn="l"/>
                      <a:r>
                        <a:rPr sz="1400" b="0">
                          <a:solidFill>
                            <a:srgbClr val="000000"/>
                          </a:solidFill>
                          <a:latin typeface="Arial"/>
                        </a:rPr>
                        <a:t>38</a:t>
                      </a:r>
                    </a:p>
                  </a:txBody>
                  <a:tcPr marL="45720" marR="45720" marT="27432" marB="27432" anchor="ctr">
                    <a:solidFill>
                      <a:srgbClr val="FAFAFA"/>
                    </a:solidFill>
                  </a:tcPr>
                </a:tc>
                <a:tc>
                  <a:txBody>
                    <a:bodyPr/>
                    <a:lstStyle/>
                    <a:p>
                      <a:pPr algn="l"/>
                      <a:r>
                        <a:rPr sz="1400" b="0">
                          <a:solidFill>
                            <a:srgbClr val="000000"/>
                          </a:solidFill>
                          <a:latin typeface="Arial"/>
                        </a:rPr>
                        <a:t>No</a:t>
                      </a:r>
                    </a:p>
                  </a:txBody>
                  <a:tcPr marL="45720" marR="45720" marT="27432" marB="27432" anchor="ctr">
                    <a:solidFill>
                      <a:srgbClr val="FAFAFA"/>
                    </a:solidFill>
                  </a:tcPr>
                </a:tc>
                <a:tc>
                  <a:txBody>
                    <a:bodyPr/>
                    <a:lstStyle/>
                    <a:p>
                      <a:pPr algn="l"/>
                      <a:r>
                        <a:rPr sz="1400" b="0">
                          <a:solidFill>
                            <a:srgbClr val="000000"/>
                          </a:solidFill>
                          <a:latin typeface="Arial"/>
                        </a:rPr>
                        <a:t>Vigorous Activity connected; dietary treatments not all connected</a:t>
                      </a:r>
                    </a:p>
                  </a:txBody>
                  <a:tcPr marL="45720" marR="45720" marT="27432" marB="27432" anchor="ctr">
                    <a:solidFill>
                      <a:srgbClr val="FAFAFA"/>
                    </a:solidFill>
                  </a:tcPr>
                </a:tc>
                <a:extLst>
                  <a:ext uri="{0D108BD9-81ED-4DB2-BD59-A6C34878D82A}">
                    <a16:rowId xmlns:a16="http://schemas.microsoft.com/office/drawing/2014/main" val="10002"/>
                  </a:ext>
                </a:extLst>
              </a:tr>
              <a:tr h="502920">
                <a:tc>
                  <a:txBody>
                    <a:bodyPr/>
                    <a:lstStyle/>
                    <a:p>
                      <a:pPr algn="l"/>
                      <a:r>
                        <a:rPr sz="1400" b="0">
                          <a:solidFill>
                            <a:srgbClr val="000000"/>
                          </a:solidFill>
                          <a:latin typeface="Arial"/>
                        </a:rPr>
                        <a:t>DirectLiNGAM</a:t>
                      </a:r>
                    </a:p>
                  </a:txBody>
                  <a:tcPr marL="45720" marR="45720" marT="27432" marB="27432" anchor="ctr">
                    <a:solidFill>
                      <a:srgbClr val="FFFFFF"/>
                    </a:solidFill>
                  </a:tcPr>
                </a:tc>
                <a:tc>
                  <a:txBody>
                    <a:bodyPr/>
                    <a:lstStyle/>
                    <a:p>
                      <a:pPr algn="l"/>
                      <a:r>
                        <a:rPr sz="1400" b="0">
                          <a:solidFill>
                            <a:srgbClr val="000000"/>
                          </a:solidFill>
                          <a:latin typeface="Arial"/>
                        </a:rPr>
                        <a:t>threshold 0.060</a:t>
                      </a:r>
                    </a:p>
                  </a:txBody>
                  <a:tcPr marL="45720" marR="45720" marT="27432" marB="27432" anchor="ctr">
                    <a:solidFill>
                      <a:srgbClr val="FFFFFF"/>
                    </a:solidFill>
                  </a:tcPr>
                </a:tc>
                <a:tc>
                  <a:txBody>
                    <a:bodyPr/>
                    <a:lstStyle/>
                    <a:p>
                      <a:pPr algn="l"/>
                      <a:r>
                        <a:rPr sz="1400" b="0">
                          <a:solidFill>
                            <a:srgbClr val="000000"/>
                          </a:solidFill>
                          <a:latin typeface="Arial"/>
                        </a:rPr>
                        <a:t>41</a:t>
                      </a:r>
                    </a:p>
                  </a:txBody>
                  <a:tcPr marL="45720" marR="45720" marT="27432" marB="27432" anchor="ctr">
                    <a:solidFill>
                      <a:srgbClr val="FFFFFF"/>
                    </a:solidFill>
                  </a:tcPr>
                </a:tc>
                <a:tc>
                  <a:txBody>
                    <a:bodyPr/>
                    <a:lstStyle/>
                    <a:p>
                      <a:pPr algn="l"/>
                      <a:r>
                        <a:rPr sz="1400" b="0">
                          <a:solidFill>
                            <a:srgbClr val="000000"/>
                          </a:solidFill>
                          <a:latin typeface="Arial"/>
                        </a:rPr>
                        <a:t>Yes</a:t>
                      </a:r>
                    </a:p>
                  </a:txBody>
                  <a:tcPr marL="45720" marR="45720" marT="27432" marB="27432" anchor="ctr">
                    <a:solidFill>
                      <a:srgbClr val="FFFFFF"/>
                    </a:solidFill>
                  </a:tcPr>
                </a:tc>
                <a:tc>
                  <a:txBody>
                    <a:bodyPr/>
                    <a:lstStyle/>
                    <a:p>
                      <a:pPr algn="l"/>
                      <a:r>
                        <a:rPr sz="1400" b="0" dirty="0">
                          <a:solidFill>
                            <a:srgbClr val="000000"/>
                          </a:solidFill>
                          <a:latin typeface="Arial"/>
                        </a:rPr>
                        <a:t>All paths present, but still fairly dense</a:t>
                      </a:r>
                    </a:p>
                  </a:txBody>
                  <a:tcPr marL="45720" marR="45720" marT="27432" marB="27432" anchor="ctr">
                    <a:solidFill>
                      <a:srgbClr val="FFFFFF"/>
                    </a:solidFill>
                  </a:tcPr>
                </a:tc>
                <a:extLst>
                  <a:ext uri="{0D108BD9-81ED-4DB2-BD59-A6C34878D82A}">
                    <a16:rowId xmlns:a16="http://schemas.microsoft.com/office/drawing/2014/main" val="10003"/>
                  </a:ext>
                </a:extLst>
              </a:tr>
              <a:tr h="502920">
                <a:tc>
                  <a:txBody>
                    <a:bodyPr/>
                    <a:lstStyle/>
                    <a:p>
                      <a:pPr algn="l"/>
                      <a:r>
                        <a:rPr sz="1400" b="0">
                          <a:solidFill>
                            <a:srgbClr val="000000"/>
                          </a:solidFill>
                          <a:latin typeface="Arial"/>
                        </a:rPr>
                        <a:t>DirectLiNGAM</a:t>
                      </a:r>
                    </a:p>
                  </a:txBody>
                  <a:tcPr marL="45720" marR="45720" marT="27432" marB="27432" anchor="ctr">
                    <a:solidFill>
                      <a:srgbClr val="FAFAFA"/>
                    </a:solidFill>
                  </a:tcPr>
                </a:tc>
                <a:tc>
                  <a:txBody>
                    <a:bodyPr/>
                    <a:lstStyle/>
                    <a:p>
                      <a:pPr algn="l"/>
                      <a:r>
                        <a:rPr sz="1400" b="0">
                          <a:solidFill>
                            <a:srgbClr val="000000"/>
                          </a:solidFill>
                          <a:latin typeface="Arial"/>
                        </a:rPr>
                        <a:t>threshold 0.070</a:t>
                      </a:r>
                    </a:p>
                  </a:txBody>
                  <a:tcPr marL="45720" marR="45720" marT="27432" marB="27432" anchor="ctr">
                    <a:solidFill>
                      <a:srgbClr val="FAFAFA"/>
                    </a:solidFill>
                  </a:tcPr>
                </a:tc>
                <a:tc>
                  <a:txBody>
                    <a:bodyPr/>
                    <a:lstStyle/>
                    <a:p>
                      <a:pPr algn="l"/>
                      <a:r>
                        <a:rPr sz="1400" b="0">
                          <a:solidFill>
                            <a:srgbClr val="000000"/>
                          </a:solidFill>
                          <a:latin typeface="Arial"/>
                        </a:rPr>
                        <a:t>35</a:t>
                      </a:r>
                    </a:p>
                  </a:txBody>
                  <a:tcPr marL="45720" marR="45720" marT="27432" marB="27432" anchor="ctr">
                    <a:solidFill>
                      <a:srgbClr val="FAFAFA"/>
                    </a:solidFill>
                  </a:tcPr>
                </a:tc>
                <a:tc>
                  <a:txBody>
                    <a:bodyPr/>
                    <a:lstStyle/>
                    <a:p>
                      <a:pPr algn="l"/>
                      <a:r>
                        <a:rPr sz="1400" b="0">
                          <a:solidFill>
                            <a:srgbClr val="000000"/>
                          </a:solidFill>
                          <a:latin typeface="Arial"/>
                        </a:rPr>
                        <a:t>No</a:t>
                      </a:r>
                    </a:p>
                  </a:txBody>
                  <a:tcPr marL="45720" marR="45720" marT="27432" marB="27432" anchor="ctr">
                    <a:solidFill>
                      <a:srgbClr val="FAFAFA"/>
                    </a:solidFill>
                  </a:tcPr>
                </a:tc>
                <a:tc>
                  <a:txBody>
                    <a:bodyPr/>
                    <a:lstStyle/>
                    <a:p>
                      <a:pPr algn="l"/>
                      <a:r>
                        <a:rPr sz="1400" b="0">
                          <a:solidFill>
                            <a:srgbClr val="000000"/>
                          </a:solidFill>
                          <a:latin typeface="Arial"/>
                        </a:rPr>
                        <a:t>Sparser, but Total Calories path disappears</a:t>
                      </a:r>
                    </a:p>
                  </a:txBody>
                  <a:tcPr marL="45720" marR="45720" marT="27432" marB="27432" anchor="ctr">
                    <a:solidFill>
                      <a:srgbClr val="FAFAFA"/>
                    </a:solidFill>
                  </a:tcPr>
                </a:tc>
                <a:extLst>
                  <a:ext uri="{0D108BD9-81ED-4DB2-BD59-A6C34878D82A}">
                    <a16:rowId xmlns:a16="http://schemas.microsoft.com/office/drawing/2014/main" val="10004"/>
                  </a:ext>
                </a:extLst>
              </a:tr>
              <a:tr h="502920">
                <a:tc>
                  <a:txBody>
                    <a:bodyPr/>
                    <a:lstStyle/>
                    <a:p>
                      <a:pPr algn="l"/>
                      <a:r>
                        <a:rPr sz="1400" b="0">
                          <a:solidFill>
                            <a:srgbClr val="000000"/>
                          </a:solidFill>
                          <a:latin typeface="Arial"/>
                        </a:rPr>
                        <a:t>RESIT</a:t>
                      </a:r>
                    </a:p>
                  </a:txBody>
                  <a:tcPr marL="45720" marR="45720" marT="27432" marB="27432" anchor="ctr">
                    <a:solidFill>
                      <a:srgbClr val="FFFFFF"/>
                    </a:solidFill>
                  </a:tcPr>
                </a:tc>
                <a:tc>
                  <a:txBody>
                    <a:bodyPr/>
                    <a:lstStyle/>
                    <a:p>
                      <a:pPr algn="l"/>
                      <a:r>
                        <a:rPr sz="1400" b="0">
                          <a:solidFill>
                            <a:srgbClr val="000000"/>
                          </a:solidFill>
                          <a:latin typeface="Arial"/>
                        </a:rPr>
                        <a:t>α = 0.001</a:t>
                      </a:r>
                    </a:p>
                  </a:txBody>
                  <a:tcPr marL="45720" marR="45720" marT="27432" marB="27432" anchor="ctr">
                    <a:solidFill>
                      <a:srgbClr val="FFFFFF"/>
                    </a:solidFill>
                  </a:tcPr>
                </a:tc>
                <a:tc>
                  <a:txBody>
                    <a:bodyPr/>
                    <a:lstStyle/>
                    <a:p>
                      <a:pPr algn="l"/>
                      <a:r>
                        <a:rPr sz="1400" b="0">
                          <a:solidFill>
                            <a:srgbClr val="000000"/>
                          </a:solidFill>
                          <a:latin typeface="Arial"/>
                        </a:rPr>
                        <a:t>84</a:t>
                      </a:r>
                    </a:p>
                  </a:txBody>
                  <a:tcPr marL="45720" marR="45720" marT="27432" marB="27432" anchor="ctr">
                    <a:solidFill>
                      <a:srgbClr val="FFFFFF"/>
                    </a:solidFill>
                  </a:tcPr>
                </a:tc>
                <a:tc>
                  <a:txBody>
                    <a:bodyPr/>
                    <a:lstStyle/>
                    <a:p>
                      <a:pPr algn="l"/>
                      <a:r>
                        <a:rPr sz="1400" b="0">
                          <a:solidFill>
                            <a:srgbClr val="000000"/>
                          </a:solidFill>
                          <a:latin typeface="Arial"/>
                        </a:rPr>
                        <a:t>Yes</a:t>
                      </a:r>
                    </a:p>
                  </a:txBody>
                  <a:tcPr marL="45720" marR="45720" marT="27432" marB="27432" anchor="ctr">
                    <a:solidFill>
                      <a:srgbClr val="FFFFFF"/>
                    </a:solidFill>
                  </a:tcPr>
                </a:tc>
                <a:tc>
                  <a:txBody>
                    <a:bodyPr/>
                    <a:lstStyle/>
                    <a:p>
                      <a:pPr algn="l"/>
                      <a:r>
                        <a:rPr sz="1400" b="0" dirty="0">
                          <a:solidFill>
                            <a:srgbClr val="000000"/>
                          </a:solidFill>
                          <a:latin typeface="Arial"/>
                        </a:rPr>
                        <a:t>Connected, but close to saturated</a:t>
                      </a:r>
                    </a:p>
                  </a:txBody>
                  <a:tcPr marL="45720" marR="45720"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977598"/>
            <a:ext cx="10332720" cy="529376"/>
          </a:xfrm>
          <a:prstGeom prst="rect">
            <a:avLst/>
          </a:prstGeom>
          <a:noFill/>
        </p:spPr>
        <p:txBody>
          <a:bodyPr wrap="square" lIns="27432" tIns="18288" rIns="27432" bIns="18288" anchor="t">
            <a:spAutoFit/>
          </a:bodyPr>
          <a:lstStyle/>
          <a:p>
            <a:r>
              <a:rPr sz="1600" b="0" dirty="0">
                <a:solidFill>
                  <a:schemeClr val="tx2">
                    <a:lumMod val="85000"/>
                    <a:lumOff val="15000"/>
                  </a:schemeClr>
                </a:solidFill>
                <a:latin typeface="Arial"/>
              </a:rPr>
              <a:t>Moderate constraints improved direction plausibility, but no candidate combined low edge count with all four treatment-to-BMI paths.</a:t>
            </a:r>
          </a:p>
        </p:txBody>
      </p:sp>
      <p:sp>
        <p:nvSpPr>
          <p:cNvPr id="9" name="TextBox 8"/>
          <p:cNvSpPr txBox="1"/>
          <p:nvPr/>
        </p:nvSpPr>
        <p:spPr>
          <a:xfrm>
            <a:off x="731520" y="5622020"/>
            <a:ext cx="10241280" cy="252377"/>
          </a:xfrm>
          <a:prstGeom prst="rect">
            <a:avLst/>
          </a:prstGeom>
          <a:noFill/>
        </p:spPr>
        <p:txBody>
          <a:bodyPr wrap="square" lIns="27432" tIns="18288" rIns="27432" bIns="18288" anchor="t">
            <a:spAutoFit/>
          </a:bodyPr>
          <a:lstStyle/>
          <a:p>
            <a:r>
              <a:rPr sz="1400" b="0" dirty="0">
                <a:solidFill>
                  <a:srgbClr val="6C7075"/>
                </a:solidFill>
                <a:latin typeface="Arial"/>
              </a:rPr>
              <a:t>With 14 variables, the maximum DAG density is 91 directed edges; the representative RESIT graph has 84.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Moderate</a:t>
            </a:r>
            <a:r>
              <a:rPr lang="en-US" sz="2800" b="1" dirty="0">
                <a:solidFill>
                  <a:srgbClr val="17324D"/>
                </a:solidFill>
                <a:latin typeface="Arial"/>
              </a:rPr>
              <a:t> constraint</a:t>
            </a:r>
            <a:r>
              <a:rPr sz="2800" b="1" dirty="0">
                <a:solidFill>
                  <a:srgbClr val="17324D"/>
                </a:solidFill>
                <a:latin typeface="Arial"/>
              </a:rPr>
              <a:t> graph examples</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Graph discovery</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9</a:t>
            </a:r>
          </a:p>
        </p:txBody>
      </p:sp>
      <p:pic>
        <p:nvPicPr>
          <p:cNvPr id="6" name="Picture 5" descr="pc_moderate_alpha_005.png"/>
          <p:cNvPicPr>
            <a:picLocks noChangeAspect="1"/>
          </p:cNvPicPr>
          <p:nvPr/>
        </p:nvPicPr>
        <p:blipFill>
          <a:blip r:embed="rId2"/>
          <a:stretch>
            <a:fillRect/>
          </a:stretch>
        </p:blipFill>
        <p:spPr>
          <a:xfrm>
            <a:off x="411480" y="1789464"/>
            <a:ext cx="3703320" cy="2254726"/>
          </a:xfrm>
          <a:prstGeom prst="rect">
            <a:avLst/>
          </a:prstGeom>
        </p:spPr>
      </p:pic>
      <p:sp>
        <p:nvSpPr>
          <p:cNvPr id="7" name="TextBox 6"/>
          <p:cNvSpPr txBox="1"/>
          <p:nvPr/>
        </p:nvSpPr>
        <p:spPr>
          <a:xfrm>
            <a:off x="411480" y="4311288"/>
            <a:ext cx="3703320" cy="411480"/>
          </a:xfrm>
          <a:prstGeom prst="rect">
            <a:avLst/>
          </a:prstGeom>
          <a:noFill/>
        </p:spPr>
        <p:txBody>
          <a:bodyPr wrap="square" lIns="27432" tIns="18288" rIns="27432" bIns="18288" anchor="t">
            <a:spAutoFit/>
          </a:bodyPr>
          <a:lstStyle/>
          <a:p>
            <a:pPr algn="ctr"/>
            <a:r>
              <a:rPr sz="1100" b="1">
                <a:solidFill>
                  <a:srgbClr val="17324D"/>
                </a:solidFill>
                <a:latin typeface="Arial"/>
              </a:rPr>
              <a:t>PC, α=0.05</a:t>
            </a:r>
            <a:br/>
            <a:r>
              <a:rPr sz="1100" b="1">
                <a:solidFill>
                  <a:srgbClr val="17324D"/>
                </a:solidFill>
                <a:latin typeface="Arial"/>
              </a:rPr>
              <a:t>26 edges, no paths</a:t>
            </a:r>
          </a:p>
        </p:txBody>
      </p:sp>
      <p:pic>
        <p:nvPicPr>
          <p:cNvPr id="8" name="Picture 7" descr="directlingam_moderate_006.png"/>
          <p:cNvPicPr>
            <a:picLocks noChangeAspect="1"/>
          </p:cNvPicPr>
          <p:nvPr/>
        </p:nvPicPr>
        <p:blipFill>
          <a:blip r:embed="rId3"/>
          <a:stretch>
            <a:fillRect/>
          </a:stretch>
        </p:blipFill>
        <p:spPr>
          <a:xfrm>
            <a:off x="4251960" y="1789464"/>
            <a:ext cx="3703320" cy="2254726"/>
          </a:xfrm>
          <a:prstGeom prst="rect">
            <a:avLst/>
          </a:prstGeom>
        </p:spPr>
      </p:pic>
      <p:sp>
        <p:nvSpPr>
          <p:cNvPr id="9" name="TextBox 8"/>
          <p:cNvSpPr txBox="1"/>
          <p:nvPr/>
        </p:nvSpPr>
        <p:spPr>
          <a:xfrm>
            <a:off x="4251960" y="4311288"/>
            <a:ext cx="3703320" cy="411480"/>
          </a:xfrm>
          <a:prstGeom prst="rect">
            <a:avLst/>
          </a:prstGeom>
          <a:noFill/>
        </p:spPr>
        <p:txBody>
          <a:bodyPr wrap="square" lIns="27432" tIns="18288" rIns="27432" bIns="18288" anchor="t">
            <a:spAutoFit/>
          </a:bodyPr>
          <a:lstStyle/>
          <a:p>
            <a:pPr algn="ctr"/>
            <a:r>
              <a:rPr sz="1100" b="1">
                <a:solidFill>
                  <a:srgbClr val="17324D"/>
                </a:solidFill>
                <a:latin typeface="Arial"/>
              </a:rPr>
              <a:t>DirectLiNGAM, thr=0.060</a:t>
            </a:r>
            <a:br/>
            <a:r>
              <a:rPr sz="1100" b="1">
                <a:solidFill>
                  <a:srgbClr val="17324D"/>
                </a:solidFill>
                <a:latin typeface="Arial"/>
              </a:rPr>
              <a:t>41 edges, all paths</a:t>
            </a:r>
          </a:p>
        </p:txBody>
      </p:sp>
      <p:pic>
        <p:nvPicPr>
          <p:cNvPr id="10" name="Picture 9" descr="resit_moderate_0001.png"/>
          <p:cNvPicPr>
            <a:picLocks noChangeAspect="1"/>
          </p:cNvPicPr>
          <p:nvPr/>
        </p:nvPicPr>
        <p:blipFill>
          <a:blip r:embed="rId4"/>
          <a:stretch>
            <a:fillRect/>
          </a:stretch>
        </p:blipFill>
        <p:spPr>
          <a:xfrm>
            <a:off x="8092440" y="1789464"/>
            <a:ext cx="3703320" cy="2254726"/>
          </a:xfrm>
          <a:prstGeom prst="rect">
            <a:avLst/>
          </a:prstGeom>
        </p:spPr>
      </p:pic>
      <p:sp>
        <p:nvSpPr>
          <p:cNvPr id="11" name="TextBox 10"/>
          <p:cNvSpPr txBox="1"/>
          <p:nvPr/>
        </p:nvSpPr>
        <p:spPr>
          <a:xfrm>
            <a:off x="8092440" y="4311288"/>
            <a:ext cx="3703320" cy="411480"/>
          </a:xfrm>
          <a:prstGeom prst="rect">
            <a:avLst/>
          </a:prstGeom>
          <a:noFill/>
        </p:spPr>
        <p:txBody>
          <a:bodyPr wrap="square" lIns="27432" tIns="18288" rIns="27432" bIns="18288" anchor="t">
            <a:spAutoFit/>
          </a:bodyPr>
          <a:lstStyle/>
          <a:p>
            <a:pPr algn="ctr"/>
            <a:r>
              <a:rPr sz="1100" b="1">
                <a:solidFill>
                  <a:srgbClr val="17324D"/>
                </a:solidFill>
                <a:latin typeface="Arial"/>
              </a:rPr>
              <a:t>RESIT, α=0.001</a:t>
            </a:r>
            <a:br/>
            <a:r>
              <a:rPr sz="1100" b="1">
                <a:solidFill>
                  <a:srgbClr val="17324D"/>
                </a:solidFill>
                <a:latin typeface="Arial"/>
              </a:rPr>
              <a:t>84 edges, all paths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Strict constraint</a:t>
            </a:r>
            <a:r>
              <a:rPr lang="en-US" sz="2800" b="1" dirty="0">
                <a:solidFill>
                  <a:srgbClr val="17324D"/>
                </a:solidFill>
                <a:latin typeface="Arial"/>
              </a:rPr>
              <a:t>s (and example graphs)</a:t>
            </a:r>
            <a:endParaRPr sz="2800" b="1" dirty="0">
              <a:solidFill>
                <a:srgbClr val="17324D"/>
              </a:solidFill>
              <a:latin typeface="Arial"/>
            </a:endParaRP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Graph selection</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10</a:t>
            </a:r>
          </a:p>
        </p:txBody>
      </p:sp>
      <p:graphicFrame>
        <p:nvGraphicFramePr>
          <p:cNvPr id="6" name="Table 5"/>
          <p:cNvGraphicFramePr>
            <a:graphicFrameLocks noGrp="1"/>
          </p:cNvGraphicFramePr>
          <p:nvPr>
            <p:extLst>
              <p:ext uri="{D42A27DB-BD31-4B8C-83A1-F6EECF244321}">
                <p14:modId xmlns:p14="http://schemas.microsoft.com/office/powerpoint/2010/main" val="3629706320"/>
              </p:ext>
            </p:extLst>
          </p:nvPr>
        </p:nvGraphicFramePr>
        <p:xfrm>
          <a:off x="731520" y="1034568"/>
          <a:ext cx="5240655" cy="3005328"/>
        </p:xfrm>
        <a:graphic>
          <a:graphicData uri="http://schemas.openxmlformats.org/drawingml/2006/table">
            <a:tbl>
              <a:tblPr firstRow="1" bandRow="1">
                <a:tableStyleId>{5C22544A-7EE6-4342-B048-85BDC9FD1C3A}</a:tableStyleId>
              </a:tblPr>
              <a:tblGrid>
                <a:gridCol w="591687">
                  <a:extLst>
                    <a:ext uri="{9D8B030D-6E8A-4147-A177-3AD203B41FA5}">
                      <a16:colId xmlns:a16="http://schemas.microsoft.com/office/drawing/2014/main" val="20000"/>
                    </a:ext>
                  </a:extLst>
                </a:gridCol>
                <a:gridCol w="1521481">
                  <a:extLst>
                    <a:ext uri="{9D8B030D-6E8A-4147-A177-3AD203B41FA5}">
                      <a16:colId xmlns:a16="http://schemas.microsoft.com/office/drawing/2014/main" val="20001"/>
                    </a:ext>
                  </a:extLst>
                </a:gridCol>
                <a:gridCol w="3127487">
                  <a:extLst>
                    <a:ext uri="{9D8B030D-6E8A-4147-A177-3AD203B41FA5}">
                      <a16:colId xmlns:a16="http://schemas.microsoft.com/office/drawing/2014/main" val="20002"/>
                    </a:ext>
                  </a:extLst>
                </a:gridCol>
              </a:tblGrid>
              <a:tr h="457200">
                <a:tc>
                  <a:txBody>
                    <a:bodyPr/>
                    <a:lstStyle/>
                    <a:p>
                      <a:pPr algn="l"/>
                      <a:r>
                        <a:rPr sz="1400" b="1">
                          <a:solidFill>
                            <a:srgbClr val="FFFFFF"/>
                          </a:solidFill>
                          <a:latin typeface="Arial"/>
                        </a:rPr>
                        <a:t>Tier</a:t>
                      </a:r>
                    </a:p>
                  </a:txBody>
                  <a:tcPr marL="45720" marR="45720" marT="27432" marB="27432" anchor="ctr">
                    <a:solidFill>
                      <a:srgbClr val="17324D"/>
                    </a:solidFill>
                  </a:tcPr>
                </a:tc>
                <a:tc>
                  <a:txBody>
                    <a:bodyPr/>
                    <a:lstStyle/>
                    <a:p>
                      <a:pPr algn="l"/>
                      <a:r>
                        <a:rPr sz="1400" b="1">
                          <a:solidFill>
                            <a:srgbClr val="FFFFFF"/>
                          </a:solidFill>
                          <a:latin typeface="Arial"/>
                        </a:rPr>
                        <a:t>Group</a:t>
                      </a:r>
                    </a:p>
                  </a:txBody>
                  <a:tcPr marL="45720" marR="45720" marT="27432" marB="27432" anchor="ctr">
                    <a:solidFill>
                      <a:srgbClr val="17324D"/>
                    </a:solidFill>
                  </a:tcPr>
                </a:tc>
                <a:tc>
                  <a:txBody>
                    <a:bodyPr/>
                    <a:lstStyle/>
                    <a:p>
                      <a:pPr algn="l"/>
                      <a:r>
                        <a:rPr sz="1400" b="1" dirty="0">
                          <a:solidFill>
                            <a:srgbClr val="FFFFFF"/>
                          </a:solidFill>
                          <a:latin typeface="Arial"/>
                        </a:rPr>
                        <a:t>Variables</a:t>
                      </a:r>
                    </a:p>
                  </a:txBody>
                  <a:tcPr marL="45720" marR="45720" marT="27432" marB="27432" anchor="ctr">
                    <a:solidFill>
                      <a:srgbClr val="17324D"/>
                    </a:solidFill>
                  </a:tcPr>
                </a:tc>
                <a:extLst>
                  <a:ext uri="{0D108BD9-81ED-4DB2-BD59-A6C34878D82A}">
                    <a16:rowId xmlns:a16="http://schemas.microsoft.com/office/drawing/2014/main" val="10000"/>
                  </a:ext>
                </a:extLst>
              </a:tr>
              <a:tr h="457200">
                <a:tc>
                  <a:txBody>
                    <a:bodyPr/>
                    <a:lstStyle/>
                    <a:p>
                      <a:pPr algn="l"/>
                      <a:r>
                        <a:rPr sz="1400" b="0">
                          <a:solidFill>
                            <a:srgbClr val="000000"/>
                          </a:solidFill>
                          <a:latin typeface="Arial"/>
                        </a:rPr>
                        <a:t>0</a:t>
                      </a:r>
                    </a:p>
                  </a:txBody>
                  <a:tcPr marL="45720" marR="45720" marT="27432" marB="27432" anchor="ctr">
                    <a:solidFill>
                      <a:srgbClr val="FFFFFF"/>
                    </a:solidFill>
                  </a:tcPr>
                </a:tc>
                <a:tc>
                  <a:txBody>
                    <a:bodyPr/>
                    <a:lstStyle/>
                    <a:p>
                      <a:pPr algn="l"/>
                      <a:r>
                        <a:rPr sz="1400" b="0" dirty="0">
                          <a:solidFill>
                            <a:srgbClr val="000000"/>
                          </a:solidFill>
                          <a:latin typeface="Arial"/>
                        </a:rPr>
                        <a:t>Demographics</a:t>
                      </a:r>
                    </a:p>
                  </a:txBody>
                  <a:tcPr marL="45720" marR="45720" marT="27432" marB="27432" anchor="ctr">
                    <a:solidFill>
                      <a:srgbClr val="FFFFFF"/>
                    </a:solidFill>
                  </a:tcPr>
                </a:tc>
                <a:tc>
                  <a:txBody>
                    <a:bodyPr/>
                    <a:lstStyle/>
                    <a:p>
                      <a:pPr algn="l"/>
                      <a:r>
                        <a:rPr sz="1400" b="0" dirty="0">
                          <a:solidFill>
                            <a:srgbClr val="000000"/>
                          </a:solidFill>
                          <a:latin typeface="Arial"/>
                        </a:rPr>
                        <a:t>Age, Gender</a:t>
                      </a:r>
                    </a:p>
                  </a:txBody>
                  <a:tcPr marL="45720" marR="45720"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400" b="0">
                          <a:solidFill>
                            <a:srgbClr val="000000"/>
                          </a:solidFill>
                          <a:latin typeface="Arial"/>
                        </a:rPr>
                        <a:t>1</a:t>
                      </a:r>
                    </a:p>
                  </a:txBody>
                  <a:tcPr marL="45720" marR="45720" marT="27432" marB="27432" anchor="ctr">
                    <a:solidFill>
                      <a:srgbClr val="FAFAFA"/>
                    </a:solidFill>
                  </a:tcPr>
                </a:tc>
                <a:tc>
                  <a:txBody>
                    <a:bodyPr/>
                    <a:lstStyle/>
                    <a:p>
                      <a:pPr algn="l"/>
                      <a:r>
                        <a:rPr sz="1400" b="0">
                          <a:solidFill>
                            <a:srgbClr val="000000"/>
                          </a:solidFill>
                          <a:latin typeface="Arial"/>
                        </a:rPr>
                        <a:t>Socioeconomic</a:t>
                      </a:r>
                    </a:p>
                  </a:txBody>
                  <a:tcPr marL="45720" marR="45720" marT="27432" marB="27432" anchor="ctr">
                    <a:solidFill>
                      <a:srgbClr val="FAFAFA"/>
                    </a:solidFill>
                  </a:tcPr>
                </a:tc>
                <a:tc>
                  <a:txBody>
                    <a:bodyPr/>
                    <a:lstStyle/>
                    <a:p>
                      <a:pPr algn="l"/>
                      <a:r>
                        <a:rPr sz="1400" b="0" dirty="0">
                          <a:solidFill>
                            <a:srgbClr val="000000"/>
                          </a:solidFill>
                          <a:latin typeface="Arial"/>
                        </a:rPr>
                        <a:t>Income Ratio</a:t>
                      </a:r>
                    </a:p>
                  </a:txBody>
                  <a:tcPr marL="45720" marR="45720" marT="27432" marB="27432" anchor="ctr">
                    <a:solidFill>
                      <a:srgbClr val="FAFAFA"/>
                    </a:solidFill>
                  </a:tcPr>
                </a:tc>
                <a:extLst>
                  <a:ext uri="{0D108BD9-81ED-4DB2-BD59-A6C34878D82A}">
                    <a16:rowId xmlns:a16="http://schemas.microsoft.com/office/drawing/2014/main" val="10002"/>
                  </a:ext>
                </a:extLst>
              </a:tr>
              <a:tr h="457200">
                <a:tc>
                  <a:txBody>
                    <a:bodyPr/>
                    <a:lstStyle/>
                    <a:p>
                      <a:pPr algn="l"/>
                      <a:r>
                        <a:rPr sz="1400" b="0">
                          <a:solidFill>
                            <a:srgbClr val="000000"/>
                          </a:solidFill>
                          <a:latin typeface="Arial"/>
                        </a:rPr>
                        <a:t>2</a:t>
                      </a:r>
                    </a:p>
                  </a:txBody>
                  <a:tcPr marL="45720" marR="45720" marT="27432" marB="27432" anchor="ctr">
                    <a:solidFill>
                      <a:srgbClr val="FFFFFF"/>
                    </a:solidFill>
                  </a:tcPr>
                </a:tc>
                <a:tc>
                  <a:txBody>
                    <a:bodyPr/>
                    <a:lstStyle/>
                    <a:p>
                      <a:pPr algn="l"/>
                      <a:r>
                        <a:rPr sz="1400" b="0" dirty="0">
                          <a:solidFill>
                            <a:srgbClr val="000000"/>
                          </a:solidFill>
                          <a:latin typeface="Arial"/>
                        </a:rPr>
                        <a:t>Behavior and diet</a:t>
                      </a:r>
                    </a:p>
                  </a:txBody>
                  <a:tcPr marL="45720" marR="45720" marT="27432" marB="27432" anchor="ctr">
                    <a:solidFill>
                      <a:srgbClr val="FFFFFF"/>
                    </a:solidFill>
                  </a:tcPr>
                </a:tc>
                <a:tc>
                  <a:txBody>
                    <a:bodyPr/>
                    <a:lstStyle/>
                    <a:p>
                      <a:pPr algn="l"/>
                      <a:r>
                        <a:rPr sz="1400" b="0" dirty="0">
                          <a:solidFill>
                            <a:srgbClr val="000000"/>
                          </a:solidFill>
                          <a:latin typeface="Arial"/>
                        </a:rPr>
                        <a:t>Vigorous Activity, Sedentary Minutes, Calories, Protein, Carbohydrates, Sugars, Fiber</a:t>
                      </a:r>
                    </a:p>
                  </a:txBody>
                  <a:tcPr marL="45720" marR="45720" marT="27432" marB="27432" anchor="ctr">
                    <a:solidFill>
                      <a:srgbClr val="FFFFFF"/>
                    </a:solidFill>
                  </a:tcPr>
                </a:tc>
                <a:extLst>
                  <a:ext uri="{0D108BD9-81ED-4DB2-BD59-A6C34878D82A}">
                    <a16:rowId xmlns:a16="http://schemas.microsoft.com/office/drawing/2014/main" val="10003"/>
                  </a:ext>
                </a:extLst>
              </a:tr>
              <a:tr h="457200">
                <a:tc>
                  <a:txBody>
                    <a:bodyPr/>
                    <a:lstStyle/>
                    <a:p>
                      <a:pPr algn="l"/>
                      <a:r>
                        <a:rPr sz="1400" b="0">
                          <a:solidFill>
                            <a:srgbClr val="000000"/>
                          </a:solidFill>
                          <a:latin typeface="Arial"/>
                        </a:rPr>
                        <a:t>3</a:t>
                      </a:r>
                    </a:p>
                  </a:txBody>
                  <a:tcPr marL="45720" marR="45720" marT="27432" marB="27432" anchor="ctr">
                    <a:solidFill>
                      <a:srgbClr val="FAFAFA"/>
                    </a:solidFill>
                  </a:tcPr>
                </a:tc>
                <a:tc>
                  <a:txBody>
                    <a:bodyPr/>
                    <a:lstStyle/>
                    <a:p>
                      <a:pPr algn="l"/>
                      <a:r>
                        <a:rPr sz="1400" b="0">
                          <a:solidFill>
                            <a:srgbClr val="000000"/>
                          </a:solidFill>
                          <a:latin typeface="Arial"/>
                        </a:rPr>
                        <a:t>Body measurements</a:t>
                      </a:r>
                    </a:p>
                  </a:txBody>
                  <a:tcPr marL="45720" marR="45720" marT="27432" marB="27432" anchor="ctr">
                    <a:solidFill>
                      <a:srgbClr val="FAFAFA"/>
                    </a:solidFill>
                  </a:tcPr>
                </a:tc>
                <a:tc>
                  <a:txBody>
                    <a:bodyPr/>
                    <a:lstStyle/>
                    <a:p>
                      <a:pPr algn="l"/>
                      <a:r>
                        <a:rPr sz="1400" b="0">
                          <a:solidFill>
                            <a:srgbClr val="000000"/>
                          </a:solidFill>
                          <a:latin typeface="Arial"/>
                        </a:rPr>
                        <a:t>Waist Circumference, BMI</a:t>
                      </a:r>
                    </a:p>
                  </a:txBody>
                  <a:tcPr marL="45720" marR="45720" marT="27432" marB="27432" anchor="ctr">
                    <a:solidFill>
                      <a:srgbClr val="FAFAFA"/>
                    </a:solidFill>
                  </a:tcPr>
                </a:tc>
                <a:extLst>
                  <a:ext uri="{0D108BD9-81ED-4DB2-BD59-A6C34878D82A}">
                    <a16:rowId xmlns:a16="http://schemas.microsoft.com/office/drawing/2014/main" val="10004"/>
                  </a:ext>
                </a:extLst>
              </a:tr>
              <a:tr h="457200">
                <a:tc>
                  <a:txBody>
                    <a:bodyPr/>
                    <a:lstStyle/>
                    <a:p>
                      <a:pPr algn="l"/>
                      <a:r>
                        <a:rPr sz="1400" b="0">
                          <a:solidFill>
                            <a:srgbClr val="000000"/>
                          </a:solidFill>
                          <a:latin typeface="Arial"/>
                        </a:rPr>
                        <a:t>4</a:t>
                      </a:r>
                    </a:p>
                  </a:txBody>
                  <a:tcPr marL="45720" marR="45720" marT="27432" marB="27432" anchor="ctr">
                    <a:solidFill>
                      <a:srgbClr val="FFFFFF"/>
                    </a:solidFill>
                  </a:tcPr>
                </a:tc>
                <a:tc>
                  <a:txBody>
                    <a:bodyPr/>
                    <a:lstStyle/>
                    <a:p>
                      <a:pPr algn="l"/>
                      <a:r>
                        <a:rPr sz="1400" b="0">
                          <a:solidFill>
                            <a:srgbClr val="000000"/>
                          </a:solidFill>
                          <a:latin typeface="Arial"/>
                        </a:rPr>
                        <a:t>Blood pressure</a:t>
                      </a:r>
                    </a:p>
                  </a:txBody>
                  <a:tcPr marL="45720" marR="45720" marT="27432" marB="27432" anchor="ctr">
                    <a:solidFill>
                      <a:srgbClr val="FFFFFF"/>
                    </a:solidFill>
                  </a:tcPr>
                </a:tc>
                <a:tc>
                  <a:txBody>
                    <a:bodyPr/>
                    <a:lstStyle/>
                    <a:p>
                      <a:pPr algn="l"/>
                      <a:r>
                        <a:rPr sz="1400" b="0" dirty="0">
                          <a:solidFill>
                            <a:srgbClr val="000000"/>
                          </a:solidFill>
                          <a:latin typeface="Arial"/>
                        </a:rPr>
                        <a:t>Systolic BP, Diastolic BP</a:t>
                      </a:r>
                    </a:p>
                  </a:txBody>
                  <a:tcPr marL="45720" marR="45720" marT="27432" marB="27432"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721873611"/>
              </p:ext>
            </p:extLst>
          </p:nvPr>
        </p:nvGraphicFramePr>
        <p:xfrm>
          <a:off x="6096000" y="1034568"/>
          <a:ext cx="5763386" cy="2947752"/>
        </p:xfrm>
        <a:graphic>
          <a:graphicData uri="http://schemas.openxmlformats.org/drawingml/2006/table">
            <a:tbl>
              <a:tblPr firstRow="1" bandRow="1">
                <a:tableStyleId>{5C22544A-7EE6-4342-B048-85BDC9FD1C3A}</a:tableStyleId>
              </a:tblPr>
              <a:tblGrid>
                <a:gridCol w="1326090">
                  <a:extLst>
                    <a:ext uri="{9D8B030D-6E8A-4147-A177-3AD203B41FA5}">
                      <a16:colId xmlns:a16="http://schemas.microsoft.com/office/drawing/2014/main" val="20000"/>
                    </a:ext>
                  </a:extLst>
                </a:gridCol>
                <a:gridCol w="1428096">
                  <a:extLst>
                    <a:ext uri="{9D8B030D-6E8A-4147-A177-3AD203B41FA5}">
                      <a16:colId xmlns:a16="http://schemas.microsoft.com/office/drawing/2014/main" val="20001"/>
                    </a:ext>
                  </a:extLst>
                </a:gridCol>
                <a:gridCol w="656526">
                  <a:extLst>
                    <a:ext uri="{9D8B030D-6E8A-4147-A177-3AD203B41FA5}">
                      <a16:colId xmlns:a16="http://schemas.microsoft.com/office/drawing/2014/main" val="20002"/>
                    </a:ext>
                  </a:extLst>
                </a:gridCol>
                <a:gridCol w="567554">
                  <a:extLst>
                    <a:ext uri="{9D8B030D-6E8A-4147-A177-3AD203B41FA5}">
                      <a16:colId xmlns:a16="http://schemas.microsoft.com/office/drawing/2014/main" val="20003"/>
                    </a:ext>
                  </a:extLst>
                </a:gridCol>
                <a:gridCol w="1785120">
                  <a:extLst>
                    <a:ext uri="{9D8B030D-6E8A-4147-A177-3AD203B41FA5}">
                      <a16:colId xmlns:a16="http://schemas.microsoft.com/office/drawing/2014/main" val="20004"/>
                    </a:ext>
                  </a:extLst>
                </a:gridCol>
              </a:tblGrid>
              <a:tr h="369492">
                <a:tc>
                  <a:txBody>
                    <a:bodyPr/>
                    <a:lstStyle/>
                    <a:p>
                      <a:pPr algn="l"/>
                      <a:r>
                        <a:rPr sz="1400" b="1" dirty="0">
                          <a:solidFill>
                            <a:srgbClr val="FFFFFF"/>
                          </a:solidFill>
                          <a:latin typeface="Arial"/>
                        </a:rPr>
                        <a:t>Method</a:t>
                      </a:r>
                    </a:p>
                  </a:txBody>
                  <a:tcPr marL="45720" marR="45720" marT="27432" marB="27432" anchor="ctr">
                    <a:solidFill>
                      <a:srgbClr val="17324D"/>
                    </a:solidFill>
                  </a:tcPr>
                </a:tc>
                <a:tc>
                  <a:txBody>
                    <a:bodyPr/>
                    <a:lstStyle/>
                    <a:p>
                      <a:pPr algn="l"/>
                      <a:r>
                        <a:rPr sz="1400" b="1" dirty="0">
                          <a:solidFill>
                            <a:srgbClr val="FFFFFF"/>
                          </a:solidFill>
                          <a:latin typeface="Arial"/>
                        </a:rPr>
                        <a:t>Setting</a:t>
                      </a:r>
                    </a:p>
                  </a:txBody>
                  <a:tcPr marL="45720" marR="45720" marT="27432" marB="27432" anchor="ctr">
                    <a:solidFill>
                      <a:srgbClr val="17324D"/>
                    </a:solidFill>
                  </a:tcPr>
                </a:tc>
                <a:tc>
                  <a:txBody>
                    <a:bodyPr/>
                    <a:lstStyle/>
                    <a:p>
                      <a:pPr algn="l"/>
                      <a:r>
                        <a:rPr sz="1400" b="1" dirty="0">
                          <a:solidFill>
                            <a:srgbClr val="FFFFFF"/>
                          </a:solidFill>
                          <a:latin typeface="Arial"/>
                        </a:rPr>
                        <a:t>Edges</a:t>
                      </a:r>
                    </a:p>
                  </a:txBody>
                  <a:tcPr marL="45720" marR="45720" marT="27432" marB="27432" anchor="ctr">
                    <a:solidFill>
                      <a:srgbClr val="17324D"/>
                    </a:solidFill>
                  </a:tcPr>
                </a:tc>
                <a:tc>
                  <a:txBody>
                    <a:bodyPr/>
                    <a:lstStyle/>
                    <a:p>
                      <a:pPr algn="l"/>
                      <a:r>
                        <a:rPr sz="1400" b="1">
                          <a:solidFill>
                            <a:srgbClr val="FFFFFF"/>
                          </a:solidFill>
                          <a:latin typeface="Arial"/>
                        </a:rPr>
                        <a:t>All paths</a:t>
                      </a:r>
                    </a:p>
                  </a:txBody>
                  <a:tcPr marL="45720" marR="45720" marT="27432" marB="27432" anchor="ctr">
                    <a:solidFill>
                      <a:srgbClr val="17324D"/>
                    </a:solidFill>
                  </a:tcPr>
                </a:tc>
                <a:tc>
                  <a:txBody>
                    <a:bodyPr/>
                    <a:lstStyle/>
                    <a:p>
                      <a:pPr algn="l"/>
                      <a:r>
                        <a:rPr sz="1400" b="1" dirty="0">
                          <a:solidFill>
                            <a:srgbClr val="FFFFFF"/>
                          </a:solidFill>
                          <a:latin typeface="Arial"/>
                        </a:rPr>
                        <a:t>Assessment</a:t>
                      </a:r>
                    </a:p>
                  </a:txBody>
                  <a:tcPr marL="45720" marR="45720" marT="27432" marB="27432" anchor="ctr">
                    <a:solidFill>
                      <a:srgbClr val="17324D"/>
                    </a:solidFill>
                  </a:tcPr>
                </a:tc>
                <a:extLst>
                  <a:ext uri="{0D108BD9-81ED-4DB2-BD59-A6C34878D82A}">
                    <a16:rowId xmlns:a16="http://schemas.microsoft.com/office/drawing/2014/main" val="10000"/>
                  </a:ext>
                </a:extLst>
              </a:tr>
              <a:tr h="385012">
                <a:tc>
                  <a:txBody>
                    <a:bodyPr/>
                    <a:lstStyle/>
                    <a:p>
                      <a:pPr algn="l"/>
                      <a:r>
                        <a:rPr sz="1400" b="0" dirty="0">
                          <a:solidFill>
                            <a:srgbClr val="000000"/>
                          </a:solidFill>
                          <a:latin typeface="Arial"/>
                        </a:rPr>
                        <a:t>PC</a:t>
                      </a:r>
                    </a:p>
                  </a:txBody>
                  <a:tcPr marL="45720" marR="45720" marT="27432" marB="27432" anchor="ctr">
                    <a:solidFill>
                      <a:srgbClr val="FFFFFF"/>
                    </a:solidFill>
                  </a:tcPr>
                </a:tc>
                <a:tc>
                  <a:txBody>
                    <a:bodyPr/>
                    <a:lstStyle/>
                    <a:p>
                      <a:pPr algn="l"/>
                      <a:r>
                        <a:rPr sz="1400" b="0" dirty="0">
                          <a:solidFill>
                            <a:srgbClr val="000000"/>
                          </a:solidFill>
                          <a:latin typeface="Arial"/>
                        </a:rPr>
                        <a:t>α = 0.01</a:t>
                      </a:r>
                    </a:p>
                  </a:txBody>
                  <a:tcPr marL="45720" marR="45720" marT="27432" marB="27432" anchor="ctr">
                    <a:solidFill>
                      <a:srgbClr val="FFFFFF"/>
                    </a:solidFill>
                  </a:tcPr>
                </a:tc>
                <a:tc>
                  <a:txBody>
                    <a:bodyPr/>
                    <a:lstStyle/>
                    <a:p>
                      <a:pPr algn="l"/>
                      <a:r>
                        <a:rPr sz="1400" b="0">
                          <a:solidFill>
                            <a:srgbClr val="000000"/>
                          </a:solidFill>
                          <a:latin typeface="Arial"/>
                        </a:rPr>
                        <a:t>24</a:t>
                      </a:r>
                    </a:p>
                  </a:txBody>
                  <a:tcPr marL="45720" marR="45720" marT="27432" marB="27432" anchor="ctr">
                    <a:solidFill>
                      <a:srgbClr val="FFFFFF"/>
                    </a:solidFill>
                  </a:tcPr>
                </a:tc>
                <a:tc>
                  <a:txBody>
                    <a:bodyPr/>
                    <a:lstStyle/>
                    <a:p>
                      <a:pPr algn="l"/>
                      <a:r>
                        <a:rPr sz="1400" b="0">
                          <a:solidFill>
                            <a:srgbClr val="000000"/>
                          </a:solidFill>
                          <a:latin typeface="Arial"/>
                        </a:rPr>
                        <a:t>No</a:t>
                      </a:r>
                    </a:p>
                  </a:txBody>
                  <a:tcPr marL="45720" marR="45720" marT="27432" marB="27432" anchor="ctr">
                    <a:solidFill>
                      <a:srgbClr val="FFFFFF"/>
                    </a:solidFill>
                  </a:tcPr>
                </a:tc>
                <a:tc>
                  <a:txBody>
                    <a:bodyPr/>
                    <a:lstStyle/>
                    <a:p>
                      <a:pPr algn="l"/>
                      <a:r>
                        <a:rPr sz="1400" b="0">
                          <a:solidFill>
                            <a:srgbClr val="000000"/>
                          </a:solidFill>
                          <a:latin typeface="Arial"/>
                        </a:rPr>
                        <a:t>Carbohydrates path missing</a:t>
                      </a:r>
                    </a:p>
                  </a:txBody>
                  <a:tcPr marL="45720" marR="45720" marT="27432" marB="27432" anchor="ctr">
                    <a:solidFill>
                      <a:srgbClr val="FFFFFF"/>
                    </a:solidFill>
                  </a:tcPr>
                </a:tc>
                <a:extLst>
                  <a:ext uri="{0D108BD9-81ED-4DB2-BD59-A6C34878D82A}">
                    <a16:rowId xmlns:a16="http://schemas.microsoft.com/office/drawing/2014/main" val="10001"/>
                  </a:ext>
                </a:extLst>
              </a:tr>
              <a:tr h="399389">
                <a:tc>
                  <a:txBody>
                    <a:bodyPr/>
                    <a:lstStyle/>
                    <a:p>
                      <a:pPr algn="l"/>
                      <a:r>
                        <a:rPr sz="1400" b="0" dirty="0">
                          <a:solidFill>
                            <a:srgbClr val="000000"/>
                          </a:solidFill>
                          <a:latin typeface="Arial"/>
                        </a:rPr>
                        <a:t>PC</a:t>
                      </a:r>
                    </a:p>
                  </a:txBody>
                  <a:tcPr marL="45720" marR="45720" marT="27432" marB="27432" anchor="ctr">
                    <a:solidFill>
                      <a:srgbClr val="FAFAFA"/>
                    </a:solidFill>
                  </a:tcPr>
                </a:tc>
                <a:tc>
                  <a:txBody>
                    <a:bodyPr/>
                    <a:lstStyle/>
                    <a:p>
                      <a:pPr algn="l"/>
                      <a:r>
                        <a:rPr sz="1400" b="0" dirty="0">
                          <a:solidFill>
                            <a:srgbClr val="000000"/>
                          </a:solidFill>
                          <a:latin typeface="Arial"/>
                        </a:rPr>
                        <a:t>α = 0.70</a:t>
                      </a:r>
                    </a:p>
                  </a:txBody>
                  <a:tcPr marL="45720" marR="45720" marT="27432" marB="27432" anchor="ctr">
                    <a:solidFill>
                      <a:srgbClr val="FAFAFA"/>
                    </a:solidFill>
                  </a:tcPr>
                </a:tc>
                <a:tc>
                  <a:txBody>
                    <a:bodyPr/>
                    <a:lstStyle/>
                    <a:p>
                      <a:pPr algn="l"/>
                      <a:r>
                        <a:rPr sz="1400" b="0">
                          <a:solidFill>
                            <a:srgbClr val="000000"/>
                          </a:solidFill>
                          <a:latin typeface="Arial"/>
                        </a:rPr>
                        <a:t>37</a:t>
                      </a:r>
                    </a:p>
                  </a:txBody>
                  <a:tcPr marL="45720" marR="45720" marT="27432" marB="27432" anchor="ctr">
                    <a:solidFill>
                      <a:srgbClr val="FAFAFA"/>
                    </a:solidFill>
                  </a:tcPr>
                </a:tc>
                <a:tc>
                  <a:txBody>
                    <a:bodyPr/>
                    <a:lstStyle/>
                    <a:p>
                      <a:pPr algn="l"/>
                      <a:r>
                        <a:rPr sz="1400" b="0">
                          <a:solidFill>
                            <a:srgbClr val="000000"/>
                          </a:solidFill>
                          <a:latin typeface="Arial"/>
                        </a:rPr>
                        <a:t>No</a:t>
                      </a:r>
                    </a:p>
                  </a:txBody>
                  <a:tcPr marL="45720" marR="45720" marT="27432" marB="27432" anchor="ctr">
                    <a:solidFill>
                      <a:srgbClr val="FAFAFA"/>
                    </a:solidFill>
                  </a:tcPr>
                </a:tc>
                <a:tc>
                  <a:txBody>
                    <a:bodyPr/>
                    <a:lstStyle/>
                    <a:p>
                      <a:pPr algn="l"/>
                      <a:r>
                        <a:rPr sz="1400" b="0">
                          <a:solidFill>
                            <a:srgbClr val="000000"/>
                          </a:solidFill>
                          <a:latin typeface="Arial"/>
                        </a:rPr>
                        <a:t>Total Calories path missing</a:t>
                      </a:r>
                    </a:p>
                  </a:txBody>
                  <a:tcPr marL="45720" marR="45720" marT="27432" marB="27432" anchor="ctr">
                    <a:solidFill>
                      <a:srgbClr val="FAFAFA"/>
                    </a:solidFill>
                  </a:tcPr>
                </a:tc>
                <a:extLst>
                  <a:ext uri="{0D108BD9-81ED-4DB2-BD59-A6C34878D82A}">
                    <a16:rowId xmlns:a16="http://schemas.microsoft.com/office/drawing/2014/main" val="10002"/>
                  </a:ext>
                </a:extLst>
              </a:tr>
              <a:tr h="501000">
                <a:tc>
                  <a:txBody>
                    <a:bodyPr/>
                    <a:lstStyle/>
                    <a:p>
                      <a:pPr algn="l"/>
                      <a:r>
                        <a:rPr sz="1400" b="0" dirty="0">
                          <a:solidFill>
                            <a:srgbClr val="000000"/>
                          </a:solidFill>
                          <a:latin typeface="Arial"/>
                        </a:rPr>
                        <a:t>RESIT</a:t>
                      </a:r>
                    </a:p>
                  </a:txBody>
                  <a:tcPr marL="45720" marR="45720" marT="27432" marB="27432" anchor="ctr">
                    <a:solidFill>
                      <a:srgbClr val="FFFFFF"/>
                    </a:solidFill>
                  </a:tcPr>
                </a:tc>
                <a:tc>
                  <a:txBody>
                    <a:bodyPr/>
                    <a:lstStyle/>
                    <a:p>
                      <a:pPr algn="l"/>
                      <a:r>
                        <a:rPr sz="1400" b="0">
                          <a:solidFill>
                            <a:srgbClr val="000000"/>
                          </a:solidFill>
                          <a:latin typeface="Arial"/>
                        </a:rPr>
                        <a:t>α = 0.001</a:t>
                      </a:r>
                    </a:p>
                  </a:txBody>
                  <a:tcPr marL="45720" marR="45720" marT="27432" marB="27432" anchor="ctr">
                    <a:solidFill>
                      <a:srgbClr val="FFFFFF"/>
                    </a:solidFill>
                  </a:tcPr>
                </a:tc>
                <a:tc>
                  <a:txBody>
                    <a:bodyPr/>
                    <a:lstStyle/>
                    <a:p>
                      <a:pPr algn="l"/>
                      <a:r>
                        <a:rPr sz="1400" b="0">
                          <a:solidFill>
                            <a:srgbClr val="000000"/>
                          </a:solidFill>
                          <a:latin typeface="Arial"/>
                        </a:rPr>
                        <a:t>84</a:t>
                      </a:r>
                    </a:p>
                  </a:txBody>
                  <a:tcPr marL="45720" marR="45720" marT="27432" marB="27432" anchor="ctr">
                    <a:solidFill>
                      <a:srgbClr val="FFFFFF"/>
                    </a:solidFill>
                  </a:tcPr>
                </a:tc>
                <a:tc>
                  <a:txBody>
                    <a:bodyPr/>
                    <a:lstStyle/>
                    <a:p>
                      <a:pPr algn="l"/>
                      <a:r>
                        <a:rPr sz="1400" b="0">
                          <a:solidFill>
                            <a:srgbClr val="000000"/>
                          </a:solidFill>
                          <a:latin typeface="Arial"/>
                        </a:rPr>
                        <a:t>Yes</a:t>
                      </a:r>
                    </a:p>
                  </a:txBody>
                  <a:tcPr marL="45720" marR="45720" marT="27432" marB="27432" anchor="ctr">
                    <a:solidFill>
                      <a:srgbClr val="FFFFFF"/>
                    </a:solidFill>
                  </a:tcPr>
                </a:tc>
                <a:tc>
                  <a:txBody>
                    <a:bodyPr/>
                    <a:lstStyle/>
                    <a:p>
                      <a:pPr algn="l"/>
                      <a:r>
                        <a:rPr sz="1400" b="0">
                          <a:solidFill>
                            <a:srgbClr val="000000"/>
                          </a:solidFill>
                          <a:latin typeface="Arial"/>
                        </a:rPr>
                        <a:t>Near-saturated</a:t>
                      </a:r>
                    </a:p>
                  </a:txBody>
                  <a:tcPr marL="45720" marR="45720" marT="27432" marB="27432" anchor="ctr">
                    <a:solidFill>
                      <a:srgbClr val="FFFFFF"/>
                    </a:solidFill>
                  </a:tcPr>
                </a:tc>
                <a:extLst>
                  <a:ext uri="{0D108BD9-81ED-4DB2-BD59-A6C34878D82A}">
                    <a16:rowId xmlns:a16="http://schemas.microsoft.com/office/drawing/2014/main" val="10003"/>
                  </a:ext>
                </a:extLst>
              </a:tr>
              <a:tr h="501000">
                <a:tc>
                  <a:txBody>
                    <a:bodyPr/>
                    <a:lstStyle/>
                    <a:p>
                      <a:pPr algn="l"/>
                      <a:r>
                        <a:rPr sz="1400" b="0">
                          <a:solidFill>
                            <a:srgbClr val="000000"/>
                          </a:solidFill>
                          <a:latin typeface="Arial"/>
                        </a:rPr>
                        <a:t>DirectLiNGAM</a:t>
                      </a:r>
                    </a:p>
                  </a:txBody>
                  <a:tcPr marL="45720" marR="45720" marT="27432" marB="27432" anchor="ctr">
                    <a:solidFill>
                      <a:srgbClr val="FAFAFA"/>
                    </a:solidFill>
                  </a:tcPr>
                </a:tc>
                <a:tc>
                  <a:txBody>
                    <a:bodyPr/>
                    <a:lstStyle/>
                    <a:p>
                      <a:pPr algn="l"/>
                      <a:r>
                        <a:rPr sz="1400" b="0">
                          <a:solidFill>
                            <a:srgbClr val="000000"/>
                          </a:solidFill>
                          <a:latin typeface="Arial"/>
                        </a:rPr>
                        <a:t>threshold 0.070</a:t>
                      </a:r>
                    </a:p>
                  </a:txBody>
                  <a:tcPr marL="45720" marR="45720" marT="27432" marB="27432" anchor="ctr">
                    <a:solidFill>
                      <a:srgbClr val="FAFAFA"/>
                    </a:solidFill>
                  </a:tcPr>
                </a:tc>
                <a:tc>
                  <a:txBody>
                    <a:bodyPr/>
                    <a:lstStyle/>
                    <a:p>
                      <a:pPr algn="l"/>
                      <a:r>
                        <a:rPr sz="1400" b="0">
                          <a:solidFill>
                            <a:srgbClr val="000000"/>
                          </a:solidFill>
                          <a:latin typeface="Arial"/>
                        </a:rPr>
                        <a:t>33</a:t>
                      </a:r>
                    </a:p>
                  </a:txBody>
                  <a:tcPr marL="45720" marR="45720" marT="27432" marB="27432" anchor="ctr">
                    <a:solidFill>
                      <a:srgbClr val="FAFAFA"/>
                    </a:solidFill>
                  </a:tcPr>
                </a:tc>
                <a:tc>
                  <a:txBody>
                    <a:bodyPr/>
                    <a:lstStyle/>
                    <a:p>
                      <a:pPr algn="l"/>
                      <a:r>
                        <a:rPr sz="1400" b="0">
                          <a:solidFill>
                            <a:srgbClr val="000000"/>
                          </a:solidFill>
                          <a:latin typeface="Arial"/>
                        </a:rPr>
                        <a:t>Yes</a:t>
                      </a:r>
                    </a:p>
                  </a:txBody>
                  <a:tcPr marL="45720" marR="45720" marT="27432" marB="27432" anchor="ctr">
                    <a:solidFill>
                      <a:srgbClr val="FAFAFA"/>
                    </a:solidFill>
                  </a:tcPr>
                </a:tc>
                <a:tc>
                  <a:txBody>
                    <a:bodyPr/>
                    <a:lstStyle/>
                    <a:p>
                      <a:pPr algn="l"/>
                      <a:r>
                        <a:rPr sz="1400" b="0">
                          <a:solidFill>
                            <a:srgbClr val="000000"/>
                          </a:solidFill>
                          <a:latin typeface="Arial"/>
                        </a:rPr>
                        <a:t>Selected</a:t>
                      </a:r>
                    </a:p>
                  </a:txBody>
                  <a:tcPr marL="45720" marR="45720" marT="27432" marB="27432" anchor="ctr">
                    <a:solidFill>
                      <a:srgbClr val="FAFAFA"/>
                    </a:solidFill>
                  </a:tcPr>
                </a:tc>
                <a:extLst>
                  <a:ext uri="{0D108BD9-81ED-4DB2-BD59-A6C34878D82A}">
                    <a16:rowId xmlns:a16="http://schemas.microsoft.com/office/drawing/2014/main" val="10004"/>
                  </a:ext>
                </a:extLst>
              </a:tr>
              <a:tr h="501000">
                <a:tc>
                  <a:txBody>
                    <a:bodyPr/>
                    <a:lstStyle/>
                    <a:p>
                      <a:pPr algn="l"/>
                      <a:r>
                        <a:rPr sz="1400" b="0" dirty="0" err="1">
                          <a:solidFill>
                            <a:srgbClr val="000000"/>
                          </a:solidFill>
                          <a:latin typeface="Arial"/>
                        </a:rPr>
                        <a:t>DirectLiNGAM</a:t>
                      </a:r>
                      <a:endParaRPr sz="1400" b="0" dirty="0">
                        <a:solidFill>
                          <a:srgbClr val="000000"/>
                        </a:solidFill>
                        <a:latin typeface="Arial"/>
                      </a:endParaRPr>
                    </a:p>
                  </a:txBody>
                  <a:tcPr marL="45720" marR="45720" marT="27432" marB="27432" anchor="ctr">
                    <a:solidFill>
                      <a:srgbClr val="FFFFFF"/>
                    </a:solidFill>
                  </a:tcPr>
                </a:tc>
                <a:tc>
                  <a:txBody>
                    <a:bodyPr/>
                    <a:lstStyle/>
                    <a:p>
                      <a:pPr algn="l"/>
                      <a:r>
                        <a:rPr sz="1400" b="0">
                          <a:solidFill>
                            <a:srgbClr val="000000"/>
                          </a:solidFill>
                          <a:latin typeface="Arial"/>
                        </a:rPr>
                        <a:t>threshold 0.080</a:t>
                      </a:r>
                    </a:p>
                  </a:txBody>
                  <a:tcPr marL="45720" marR="45720" marT="27432" marB="27432" anchor="ctr">
                    <a:solidFill>
                      <a:srgbClr val="FFFFFF"/>
                    </a:solidFill>
                  </a:tcPr>
                </a:tc>
                <a:tc>
                  <a:txBody>
                    <a:bodyPr/>
                    <a:lstStyle/>
                    <a:p>
                      <a:pPr algn="l"/>
                      <a:r>
                        <a:rPr sz="1400" b="0">
                          <a:solidFill>
                            <a:srgbClr val="000000"/>
                          </a:solidFill>
                          <a:latin typeface="Arial"/>
                        </a:rPr>
                        <a:t>27</a:t>
                      </a:r>
                    </a:p>
                  </a:txBody>
                  <a:tcPr marL="45720" marR="45720" marT="27432" marB="27432" anchor="ctr">
                    <a:solidFill>
                      <a:srgbClr val="FFFFFF"/>
                    </a:solidFill>
                  </a:tcPr>
                </a:tc>
                <a:tc>
                  <a:txBody>
                    <a:bodyPr/>
                    <a:lstStyle/>
                    <a:p>
                      <a:pPr algn="l"/>
                      <a:r>
                        <a:rPr sz="1400" b="0">
                          <a:solidFill>
                            <a:srgbClr val="000000"/>
                          </a:solidFill>
                          <a:latin typeface="Arial"/>
                        </a:rPr>
                        <a:t>No</a:t>
                      </a:r>
                    </a:p>
                  </a:txBody>
                  <a:tcPr marL="45720" marR="45720" marT="27432" marB="27432" anchor="ctr">
                    <a:solidFill>
                      <a:srgbClr val="FFFFFF"/>
                    </a:solidFill>
                  </a:tcPr>
                </a:tc>
                <a:tc>
                  <a:txBody>
                    <a:bodyPr/>
                    <a:lstStyle/>
                    <a:p>
                      <a:pPr algn="l"/>
                      <a:r>
                        <a:rPr sz="1400" b="0" dirty="0">
                          <a:solidFill>
                            <a:srgbClr val="000000"/>
                          </a:solidFill>
                          <a:latin typeface="Arial"/>
                        </a:rPr>
                        <a:t>Only activity path remains</a:t>
                      </a:r>
                    </a:p>
                  </a:txBody>
                  <a:tcPr marL="45720" marR="45720"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38200" y="4526280"/>
            <a:ext cx="10515600" cy="529376"/>
          </a:xfrm>
          <a:prstGeom prst="rect">
            <a:avLst/>
          </a:prstGeom>
          <a:noFill/>
        </p:spPr>
        <p:txBody>
          <a:bodyPr wrap="square" lIns="27432" tIns="18288" rIns="27432" bIns="18288" anchor="t">
            <a:spAutoFit/>
          </a:bodyPr>
          <a:lstStyle/>
          <a:p>
            <a:pPr algn="ctr"/>
            <a:r>
              <a:rPr sz="1600" b="0" dirty="0">
                <a:solidFill>
                  <a:schemeClr val="tx2">
                    <a:lumMod val="85000"/>
                    <a:lumOff val="15000"/>
                  </a:schemeClr>
                </a:solidFill>
                <a:latin typeface="Arial"/>
              </a:rPr>
              <a:t>Additional forbidden directions favored graphs where the selected treatments remain upstream of BMI and retain directed paths to it.</a:t>
            </a:r>
          </a:p>
        </p:txBody>
      </p:sp>
      <p:sp>
        <p:nvSpPr>
          <p:cNvPr id="9" name="TextBox 8"/>
          <p:cNvSpPr txBox="1"/>
          <p:nvPr/>
        </p:nvSpPr>
        <p:spPr>
          <a:xfrm>
            <a:off x="731520" y="5542040"/>
            <a:ext cx="11127866" cy="298543"/>
          </a:xfrm>
          <a:prstGeom prst="rect">
            <a:avLst/>
          </a:prstGeom>
          <a:noFill/>
        </p:spPr>
        <p:txBody>
          <a:bodyPr wrap="square" lIns="27432" tIns="18288" rIns="27432" bIns="18288" anchor="t">
            <a:spAutoFit/>
          </a:bodyPr>
          <a:lstStyle/>
          <a:p>
            <a:pPr algn="ctr"/>
            <a:r>
              <a:rPr sz="1700" b="1" dirty="0">
                <a:solidFill>
                  <a:srgbClr val="287D7A"/>
                </a:solidFill>
                <a:latin typeface="Arial"/>
              </a:rPr>
              <a:t>Final choice: </a:t>
            </a:r>
            <a:r>
              <a:rPr sz="1700" b="1" dirty="0" err="1">
                <a:solidFill>
                  <a:srgbClr val="287D7A"/>
                </a:solidFill>
                <a:latin typeface="Arial"/>
              </a:rPr>
              <a:t>DirectLiNGAM</a:t>
            </a:r>
            <a:r>
              <a:rPr sz="1700" b="1" dirty="0">
                <a:solidFill>
                  <a:srgbClr val="287D7A"/>
                </a:solidFill>
                <a:latin typeface="Arial"/>
              </a:rPr>
              <a:t> threshold 0.070 — 33 edges, acyclic, all four treatment paths.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988156" cy="467820"/>
          </a:xfrm>
          <a:prstGeom prst="rect">
            <a:avLst/>
          </a:prstGeom>
          <a:noFill/>
        </p:spPr>
        <p:txBody>
          <a:bodyPr wrap="square" lIns="27432" tIns="18288" rIns="27432" bIns="18288" anchor="t">
            <a:spAutoFit/>
          </a:bodyPr>
          <a:lstStyle/>
          <a:p>
            <a:r>
              <a:rPr sz="2800" b="1" dirty="0">
                <a:solidFill>
                  <a:srgbClr val="17324D"/>
                </a:solidFill>
                <a:latin typeface="Arial"/>
              </a:rPr>
              <a:t>Selected DAG: strict </a:t>
            </a:r>
            <a:r>
              <a:rPr lang="en-US" sz="2800" b="1" dirty="0">
                <a:solidFill>
                  <a:srgbClr val="17324D"/>
                </a:solidFill>
                <a:latin typeface="Arial"/>
              </a:rPr>
              <a:t>constraint </a:t>
            </a:r>
            <a:r>
              <a:rPr sz="2800" b="1" dirty="0" err="1">
                <a:solidFill>
                  <a:srgbClr val="17324D"/>
                </a:solidFill>
                <a:latin typeface="Arial"/>
              </a:rPr>
              <a:t>DirectLiNGAM</a:t>
            </a:r>
            <a:r>
              <a:rPr sz="2800" b="1" dirty="0">
                <a:solidFill>
                  <a:srgbClr val="17324D"/>
                </a:solidFill>
                <a:latin typeface="Arial"/>
              </a:rPr>
              <a:t> at threshold 0.070</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Selected graph</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11</a:t>
            </a:r>
          </a:p>
        </p:txBody>
      </p:sp>
      <p:pic>
        <p:nvPicPr>
          <p:cNvPr id="6" name="Picture 5" descr="directlingam_strict_007_selected.png"/>
          <p:cNvPicPr>
            <a:picLocks noChangeAspect="1"/>
          </p:cNvPicPr>
          <p:nvPr/>
        </p:nvPicPr>
        <p:blipFill>
          <a:blip r:embed="rId2"/>
          <a:stretch>
            <a:fillRect/>
          </a:stretch>
        </p:blipFill>
        <p:spPr>
          <a:xfrm>
            <a:off x="548640" y="1149392"/>
            <a:ext cx="7863840" cy="4787814"/>
          </a:xfrm>
          <a:prstGeom prst="rect">
            <a:avLst/>
          </a:prstGeom>
        </p:spPr>
      </p:pic>
      <p:sp>
        <p:nvSpPr>
          <p:cNvPr id="7" name="TextBox 6"/>
          <p:cNvSpPr txBox="1"/>
          <p:nvPr/>
        </p:nvSpPr>
        <p:spPr>
          <a:xfrm>
            <a:off x="8641080" y="1149392"/>
            <a:ext cx="2743200" cy="283154"/>
          </a:xfrm>
          <a:prstGeom prst="rect">
            <a:avLst/>
          </a:prstGeom>
          <a:noFill/>
        </p:spPr>
        <p:txBody>
          <a:bodyPr wrap="square" lIns="27432" tIns="18288" rIns="27432" bIns="18288" anchor="t">
            <a:spAutoFit/>
          </a:bodyPr>
          <a:lstStyle/>
          <a:p>
            <a:r>
              <a:rPr sz="1600" b="1" dirty="0">
                <a:solidFill>
                  <a:srgbClr val="287D7A"/>
                </a:solidFill>
                <a:latin typeface="Arial"/>
              </a:rPr>
              <a:t>Why this graph?</a:t>
            </a:r>
          </a:p>
        </p:txBody>
      </p:sp>
      <p:sp>
        <p:nvSpPr>
          <p:cNvPr id="8" name="TextBox 7"/>
          <p:cNvSpPr txBox="1"/>
          <p:nvPr/>
        </p:nvSpPr>
        <p:spPr>
          <a:xfrm>
            <a:off x="8641080" y="1600200"/>
            <a:ext cx="3246120" cy="1763560"/>
          </a:xfrm>
          <a:prstGeom prst="rect">
            <a:avLst/>
          </a:prstGeom>
          <a:noFill/>
        </p:spPr>
        <p:txBody>
          <a:bodyPr wrap="square" lIns="45720" tIns="27432" rIns="45720" bIns="27432">
            <a:spAutoFit/>
          </a:bodyPr>
          <a:lstStyle/>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Acyclic graph with 14 nodes</a:t>
            </a:r>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33 directed edges</a:t>
            </a:r>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All four treatment variables have directed paths to BMI</a:t>
            </a:r>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Substantially less dense than all-path RESIT candidates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Adjustment sets</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Adjustment sets</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12</a:t>
            </a:r>
          </a:p>
        </p:txBody>
      </p:sp>
      <p:sp>
        <p:nvSpPr>
          <p:cNvPr id="6" name="TextBox 5"/>
          <p:cNvSpPr txBox="1"/>
          <p:nvPr/>
        </p:nvSpPr>
        <p:spPr>
          <a:xfrm>
            <a:off x="777240" y="973991"/>
            <a:ext cx="10332720" cy="529376"/>
          </a:xfrm>
          <a:prstGeom prst="rect">
            <a:avLst/>
          </a:prstGeom>
          <a:noFill/>
        </p:spPr>
        <p:txBody>
          <a:bodyPr wrap="square" lIns="27432" tIns="18288" rIns="27432" bIns="18288" anchor="t">
            <a:spAutoFit/>
          </a:bodyPr>
          <a:lstStyle/>
          <a:p>
            <a:r>
              <a:rPr lang="en-US" sz="1600" dirty="0"/>
              <a:t>A custom script generates the possible minimal adjustment sets for each treatment, from which one can be selected for the ATE estimation.</a:t>
            </a:r>
            <a:endParaRPr sz="1600" b="0" dirty="0">
              <a:solidFill>
                <a:srgbClr val="000000"/>
              </a:solidFill>
              <a:latin typeface="Arial"/>
            </a:endParaRPr>
          </a:p>
        </p:txBody>
      </p:sp>
      <p:sp>
        <p:nvSpPr>
          <p:cNvPr id="7" name="TextBox 6"/>
          <p:cNvSpPr txBox="1"/>
          <p:nvPr/>
        </p:nvSpPr>
        <p:spPr>
          <a:xfrm>
            <a:off x="777240" y="1613460"/>
            <a:ext cx="10515600" cy="1384995"/>
          </a:xfrm>
          <a:prstGeom prst="rect">
            <a:avLst/>
          </a:prstGeom>
          <a:noFill/>
        </p:spPr>
        <p:txBody>
          <a:bodyPr wrap="square" lIns="45720" rIns="45720">
            <a:spAutoFit/>
          </a:bodyPr>
          <a:lstStyle/>
          <a:p>
            <a:pPr marL="342900" indent="-342900">
              <a:spcAft>
                <a:spcPts val="800"/>
              </a:spcAft>
              <a:buFont typeface="+mj-lt"/>
              <a:buAutoNum type="arabicPeriod"/>
              <a:defRPr sz="1350">
                <a:solidFill>
                  <a:srgbClr val="000000"/>
                </a:solidFill>
                <a:latin typeface="Arial"/>
              </a:defRPr>
            </a:pPr>
            <a:r>
              <a:rPr sz="1600" dirty="0"/>
              <a:t>Construct the treatment-specific backdoor graph by removing outgoing treatment edges.</a:t>
            </a:r>
          </a:p>
          <a:p>
            <a:pPr marL="342900" indent="-342900">
              <a:spcAft>
                <a:spcPts val="800"/>
              </a:spcAft>
              <a:buFont typeface="+mj-lt"/>
              <a:buAutoNum type="arabicPeriod"/>
              <a:defRPr sz="1350">
                <a:solidFill>
                  <a:srgbClr val="000000"/>
                </a:solidFill>
                <a:latin typeface="Arial"/>
              </a:defRPr>
            </a:pPr>
            <a:r>
              <a:rPr sz="1600" dirty="0"/>
              <a:t>Define eligible variables as ancestors of treatment or outcome, excluding treatment descendants.</a:t>
            </a:r>
          </a:p>
          <a:p>
            <a:pPr marL="342900" indent="-342900">
              <a:spcAft>
                <a:spcPts val="800"/>
              </a:spcAft>
              <a:buFont typeface="+mj-lt"/>
              <a:buAutoNum type="arabicPeriod"/>
              <a:defRPr sz="1350">
                <a:solidFill>
                  <a:srgbClr val="000000"/>
                </a:solidFill>
                <a:latin typeface="Arial"/>
              </a:defRPr>
            </a:pPr>
            <a:r>
              <a:rPr sz="1600" dirty="0"/>
              <a:t>Enumerate candidate subsets and test d-separation.</a:t>
            </a:r>
          </a:p>
          <a:p>
            <a:pPr marL="342900" indent="-342900">
              <a:spcAft>
                <a:spcPts val="800"/>
              </a:spcAft>
              <a:buFont typeface="+mj-lt"/>
              <a:buAutoNum type="arabicPeriod"/>
              <a:defRPr sz="1350">
                <a:solidFill>
                  <a:srgbClr val="000000"/>
                </a:solidFill>
                <a:latin typeface="Arial"/>
              </a:defRPr>
            </a:pPr>
            <a:r>
              <a:rPr sz="1600" dirty="0"/>
              <a:t>Retain only inclusion-minimal valid backdoor adjustment sets.</a:t>
            </a:r>
          </a:p>
        </p:txBody>
      </p:sp>
      <p:graphicFrame>
        <p:nvGraphicFramePr>
          <p:cNvPr id="8" name="Table 7"/>
          <p:cNvGraphicFramePr>
            <a:graphicFrameLocks noGrp="1"/>
          </p:cNvGraphicFramePr>
          <p:nvPr>
            <p:extLst>
              <p:ext uri="{D42A27DB-BD31-4B8C-83A1-F6EECF244321}">
                <p14:modId xmlns:p14="http://schemas.microsoft.com/office/powerpoint/2010/main" val="3473836806"/>
              </p:ext>
            </p:extLst>
          </p:nvPr>
        </p:nvGraphicFramePr>
        <p:xfrm>
          <a:off x="525780" y="3286947"/>
          <a:ext cx="11201400" cy="169164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tblGrid>
              <a:tr h="338328">
                <a:tc>
                  <a:txBody>
                    <a:bodyPr/>
                    <a:lstStyle/>
                    <a:p>
                      <a:pPr algn="l"/>
                      <a:r>
                        <a:rPr sz="1400" b="1">
                          <a:solidFill>
                            <a:srgbClr val="FFFFFF"/>
                          </a:solidFill>
                          <a:latin typeface="Arial"/>
                        </a:rPr>
                        <a:t>Treatment</a:t>
                      </a:r>
                    </a:p>
                  </a:txBody>
                  <a:tcPr marL="45720" marR="45720" marT="27432" marB="27432" anchor="ctr">
                    <a:solidFill>
                      <a:srgbClr val="17324D"/>
                    </a:solidFill>
                  </a:tcPr>
                </a:tc>
                <a:tc>
                  <a:txBody>
                    <a:bodyPr/>
                    <a:lstStyle/>
                    <a:p>
                      <a:pPr algn="l"/>
                      <a:r>
                        <a:rPr sz="1400" b="1">
                          <a:solidFill>
                            <a:srgbClr val="FFFFFF"/>
                          </a:solidFill>
                          <a:latin typeface="Arial"/>
                        </a:rPr>
                        <a:t>Manual set</a:t>
                      </a:r>
                    </a:p>
                  </a:txBody>
                  <a:tcPr marL="45720" marR="45720" marT="27432" marB="27432" anchor="ctr">
                    <a:solidFill>
                      <a:srgbClr val="17324D"/>
                    </a:solidFill>
                  </a:tcPr>
                </a:tc>
                <a:tc>
                  <a:txBody>
                    <a:bodyPr/>
                    <a:lstStyle/>
                    <a:p>
                      <a:pPr algn="l"/>
                      <a:r>
                        <a:rPr sz="1400" b="1" dirty="0" err="1">
                          <a:solidFill>
                            <a:srgbClr val="FFFFFF"/>
                          </a:solidFill>
                          <a:latin typeface="Arial"/>
                        </a:rPr>
                        <a:t>DoWhy</a:t>
                      </a:r>
                      <a:r>
                        <a:rPr lang="en-US" sz="1400" b="1" dirty="0">
                          <a:solidFill>
                            <a:srgbClr val="FFFFFF"/>
                          </a:solidFill>
                          <a:latin typeface="Arial"/>
                        </a:rPr>
                        <a:t> auto-</a:t>
                      </a:r>
                      <a:r>
                        <a:rPr sz="1400" b="1" dirty="0">
                          <a:solidFill>
                            <a:srgbClr val="FFFFFF"/>
                          </a:solidFill>
                          <a:latin typeface="Arial"/>
                        </a:rPr>
                        <a:t>selected set</a:t>
                      </a:r>
                    </a:p>
                  </a:txBody>
                  <a:tcPr marL="45720" marR="45720" marT="27432" marB="27432" anchor="ctr">
                    <a:solidFill>
                      <a:srgbClr val="17324D"/>
                    </a:solidFill>
                  </a:tcPr>
                </a:tc>
                <a:extLst>
                  <a:ext uri="{0D108BD9-81ED-4DB2-BD59-A6C34878D82A}">
                    <a16:rowId xmlns:a16="http://schemas.microsoft.com/office/drawing/2014/main" val="10000"/>
                  </a:ext>
                </a:extLst>
              </a:tr>
              <a:tr h="338328">
                <a:tc>
                  <a:txBody>
                    <a:bodyPr/>
                    <a:lstStyle/>
                    <a:p>
                      <a:pPr algn="l"/>
                      <a:r>
                        <a:rPr sz="1400" b="0">
                          <a:solidFill>
                            <a:srgbClr val="000000"/>
                          </a:solidFill>
                          <a:latin typeface="Arial"/>
                        </a:rPr>
                        <a:t>Vigorous Activity</a:t>
                      </a:r>
                    </a:p>
                  </a:txBody>
                  <a:tcPr marL="45720" marR="45720" marT="27432" marB="27432" anchor="ctr">
                    <a:solidFill>
                      <a:srgbClr val="FFFFFF"/>
                    </a:solidFill>
                  </a:tcPr>
                </a:tc>
                <a:tc>
                  <a:txBody>
                    <a:bodyPr/>
                    <a:lstStyle/>
                    <a:p>
                      <a:pPr algn="l"/>
                      <a:r>
                        <a:rPr sz="1400" b="0">
                          <a:solidFill>
                            <a:srgbClr val="000000"/>
                          </a:solidFill>
                          <a:latin typeface="Arial"/>
                        </a:rPr>
                        <a:t>Age, Gender, Income Ratio</a:t>
                      </a:r>
                    </a:p>
                  </a:txBody>
                  <a:tcPr marL="45720" marR="45720" marT="27432" marB="27432" anchor="ctr">
                    <a:solidFill>
                      <a:srgbClr val="FFFFFF"/>
                    </a:solidFill>
                  </a:tcPr>
                </a:tc>
                <a:tc>
                  <a:txBody>
                    <a:bodyPr/>
                    <a:lstStyle/>
                    <a:p>
                      <a:pPr algn="l"/>
                      <a:r>
                        <a:rPr sz="1400" b="0">
                          <a:solidFill>
                            <a:srgbClr val="000000"/>
                          </a:solidFill>
                          <a:latin typeface="Arial"/>
                        </a:rPr>
                        <a:t>Age, Gender, Sedentary Minutes</a:t>
                      </a:r>
                    </a:p>
                  </a:txBody>
                  <a:tcPr marL="45720" marR="45720" marT="27432" marB="27432" anchor="ctr">
                    <a:solidFill>
                      <a:srgbClr val="FFFFFF"/>
                    </a:solidFill>
                  </a:tcPr>
                </a:tc>
                <a:extLst>
                  <a:ext uri="{0D108BD9-81ED-4DB2-BD59-A6C34878D82A}">
                    <a16:rowId xmlns:a16="http://schemas.microsoft.com/office/drawing/2014/main" val="10001"/>
                  </a:ext>
                </a:extLst>
              </a:tr>
              <a:tr h="338328">
                <a:tc>
                  <a:txBody>
                    <a:bodyPr/>
                    <a:lstStyle/>
                    <a:p>
                      <a:pPr algn="l"/>
                      <a:r>
                        <a:rPr sz="1400" b="0">
                          <a:solidFill>
                            <a:srgbClr val="000000"/>
                          </a:solidFill>
                          <a:latin typeface="Arial"/>
                        </a:rPr>
                        <a:t>Total Calories</a:t>
                      </a:r>
                    </a:p>
                  </a:txBody>
                  <a:tcPr marL="45720" marR="45720" marT="27432" marB="27432" anchor="ctr">
                    <a:solidFill>
                      <a:srgbClr val="FAFAFA"/>
                    </a:solidFill>
                  </a:tcPr>
                </a:tc>
                <a:tc>
                  <a:txBody>
                    <a:bodyPr/>
                    <a:lstStyle/>
                    <a:p>
                      <a:pPr algn="l"/>
                      <a:r>
                        <a:rPr sz="1400" b="0">
                          <a:solidFill>
                            <a:srgbClr val="000000"/>
                          </a:solidFill>
                          <a:latin typeface="Arial"/>
                        </a:rPr>
                        <a:t>Dietary Fiber, Income Ratio, Vigorous Activity</a:t>
                      </a:r>
                    </a:p>
                  </a:txBody>
                  <a:tcPr marL="45720" marR="45720" marT="27432" marB="27432" anchor="ctr">
                    <a:solidFill>
                      <a:srgbClr val="FAFAFA"/>
                    </a:solidFill>
                  </a:tcPr>
                </a:tc>
                <a:tc>
                  <a:txBody>
                    <a:bodyPr/>
                    <a:lstStyle/>
                    <a:p>
                      <a:pPr algn="l"/>
                      <a:r>
                        <a:rPr sz="1400" b="0">
                          <a:solidFill>
                            <a:srgbClr val="000000"/>
                          </a:solidFill>
                          <a:latin typeface="Arial"/>
                        </a:rPr>
                        <a:t>Dietary Fiber, Sedentary Minutes, Vigorous Activity</a:t>
                      </a:r>
                    </a:p>
                  </a:txBody>
                  <a:tcPr marL="45720" marR="45720" marT="27432" marB="27432" anchor="ctr">
                    <a:solidFill>
                      <a:srgbClr val="FAFAFA"/>
                    </a:solidFill>
                  </a:tcPr>
                </a:tc>
                <a:extLst>
                  <a:ext uri="{0D108BD9-81ED-4DB2-BD59-A6C34878D82A}">
                    <a16:rowId xmlns:a16="http://schemas.microsoft.com/office/drawing/2014/main" val="10002"/>
                  </a:ext>
                </a:extLst>
              </a:tr>
              <a:tr h="338328">
                <a:tc>
                  <a:txBody>
                    <a:bodyPr/>
                    <a:lstStyle/>
                    <a:p>
                      <a:pPr algn="l"/>
                      <a:r>
                        <a:rPr sz="1400" b="0">
                          <a:solidFill>
                            <a:srgbClr val="000000"/>
                          </a:solidFill>
                          <a:latin typeface="Arial"/>
                        </a:rPr>
                        <a:t>Protein</a:t>
                      </a:r>
                    </a:p>
                  </a:txBody>
                  <a:tcPr marL="45720" marR="45720" marT="27432" marB="27432" anchor="ctr">
                    <a:solidFill>
                      <a:srgbClr val="FFFFFF"/>
                    </a:solidFill>
                  </a:tcPr>
                </a:tc>
                <a:tc>
                  <a:txBody>
                    <a:bodyPr/>
                    <a:lstStyle/>
                    <a:p>
                      <a:pPr algn="l"/>
                      <a:r>
                        <a:rPr sz="1400" b="0">
                          <a:solidFill>
                            <a:srgbClr val="000000"/>
                          </a:solidFill>
                          <a:latin typeface="Arial"/>
                        </a:rPr>
                        <a:t>Carbohydrates, Gender, Total Sugars</a:t>
                      </a:r>
                    </a:p>
                  </a:txBody>
                  <a:tcPr marL="45720" marR="45720" marT="27432" marB="27432" anchor="ctr">
                    <a:solidFill>
                      <a:srgbClr val="FFFFFF"/>
                    </a:solidFill>
                  </a:tcPr>
                </a:tc>
                <a:tc>
                  <a:txBody>
                    <a:bodyPr/>
                    <a:lstStyle/>
                    <a:p>
                      <a:pPr algn="l"/>
                      <a:r>
                        <a:rPr sz="1400" b="0">
                          <a:solidFill>
                            <a:srgbClr val="000000"/>
                          </a:solidFill>
                          <a:latin typeface="Arial"/>
                        </a:rPr>
                        <a:t>Same</a:t>
                      </a:r>
                    </a:p>
                  </a:txBody>
                  <a:tcPr marL="45720" marR="45720" marT="27432" marB="27432" anchor="ctr">
                    <a:solidFill>
                      <a:srgbClr val="FFFFFF"/>
                    </a:solidFill>
                  </a:tcPr>
                </a:tc>
                <a:extLst>
                  <a:ext uri="{0D108BD9-81ED-4DB2-BD59-A6C34878D82A}">
                    <a16:rowId xmlns:a16="http://schemas.microsoft.com/office/drawing/2014/main" val="10003"/>
                  </a:ext>
                </a:extLst>
              </a:tr>
              <a:tr h="338328">
                <a:tc>
                  <a:txBody>
                    <a:bodyPr/>
                    <a:lstStyle/>
                    <a:p>
                      <a:pPr algn="l"/>
                      <a:r>
                        <a:rPr sz="1400" b="0">
                          <a:solidFill>
                            <a:srgbClr val="000000"/>
                          </a:solidFill>
                          <a:latin typeface="Arial"/>
                        </a:rPr>
                        <a:t>Carbohydrates</a:t>
                      </a:r>
                    </a:p>
                  </a:txBody>
                  <a:tcPr marL="45720" marR="45720" marT="27432" marB="27432" anchor="ctr">
                    <a:solidFill>
                      <a:srgbClr val="FAFAFA"/>
                    </a:solidFill>
                  </a:tcPr>
                </a:tc>
                <a:tc>
                  <a:txBody>
                    <a:bodyPr/>
                    <a:lstStyle/>
                    <a:p>
                      <a:pPr algn="l"/>
                      <a:r>
                        <a:rPr sz="1400" b="0">
                          <a:solidFill>
                            <a:srgbClr val="000000"/>
                          </a:solidFill>
                          <a:latin typeface="Arial"/>
                        </a:rPr>
                        <a:t>Gender, Total Sugars</a:t>
                      </a:r>
                    </a:p>
                  </a:txBody>
                  <a:tcPr marL="45720" marR="45720" marT="27432" marB="27432" anchor="ctr">
                    <a:solidFill>
                      <a:srgbClr val="FAFAFA"/>
                    </a:solidFill>
                  </a:tcPr>
                </a:tc>
                <a:tc>
                  <a:txBody>
                    <a:bodyPr/>
                    <a:lstStyle/>
                    <a:p>
                      <a:pPr algn="l"/>
                      <a:r>
                        <a:rPr sz="1400" b="0" dirty="0">
                          <a:solidFill>
                            <a:srgbClr val="000000"/>
                          </a:solidFill>
                          <a:latin typeface="Arial"/>
                        </a:rPr>
                        <a:t>Same</a:t>
                      </a:r>
                    </a:p>
                  </a:txBody>
                  <a:tcPr marL="45720" marR="45720" marT="27432" marB="27432" anchor="ctr">
                    <a:solidFill>
                      <a:srgbClr val="FAFAFA"/>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731520" y="5371779"/>
            <a:ext cx="10607040" cy="529376"/>
          </a:xfrm>
          <a:prstGeom prst="rect">
            <a:avLst/>
          </a:prstGeom>
          <a:noFill/>
        </p:spPr>
        <p:txBody>
          <a:bodyPr wrap="square" lIns="27432" tIns="18288" rIns="27432" bIns="18288" anchor="t">
            <a:spAutoFit/>
          </a:bodyPr>
          <a:lstStyle/>
          <a:p>
            <a:r>
              <a:rPr sz="1600" b="0" dirty="0">
                <a:solidFill>
                  <a:schemeClr val="tx2">
                    <a:lumMod val="85000"/>
                    <a:lumOff val="15000"/>
                  </a:schemeClr>
                </a:solidFill>
                <a:latin typeface="Arial"/>
              </a:rPr>
              <a:t>Manual sets are validated against the selected DAG before estimation: no treatment/outcome, no treatment descendants, and d-separation in the backdoor graph.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err="1">
                <a:solidFill>
                  <a:srgbClr val="17324D"/>
                </a:solidFill>
                <a:latin typeface="Arial"/>
              </a:rPr>
              <a:t>DoWhy</a:t>
            </a:r>
            <a:r>
              <a:rPr sz="2800" b="1" dirty="0">
                <a:solidFill>
                  <a:srgbClr val="17324D"/>
                </a:solidFill>
                <a:latin typeface="Arial"/>
              </a:rPr>
              <a:t> estimation</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Inference</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13</a:t>
            </a:r>
          </a:p>
        </p:txBody>
      </p:sp>
      <p:graphicFrame>
        <p:nvGraphicFramePr>
          <p:cNvPr id="6" name="Table 5"/>
          <p:cNvGraphicFramePr>
            <a:graphicFrameLocks noGrp="1"/>
          </p:cNvGraphicFramePr>
          <p:nvPr>
            <p:extLst>
              <p:ext uri="{D42A27DB-BD31-4B8C-83A1-F6EECF244321}">
                <p14:modId xmlns:p14="http://schemas.microsoft.com/office/powerpoint/2010/main" val="3469205232"/>
              </p:ext>
            </p:extLst>
          </p:nvPr>
        </p:nvGraphicFramePr>
        <p:xfrm>
          <a:off x="731520" y="1143000"/>
          <a:ext cx="5486400" cy="196596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93192">
                <a:tc>
                  <a:txBody>
                    <a:bodyPr/>
                    <a:lstStyle/>
                    <a:p>
                      <a:pPr algn="l"/>
                      <a:r>
                        <a:rPr sz="1400" b="1">
                          <a:solidFill>
                            <a:srgbClr val="FFFFFF"/>
                          </a:solidFill>
                          <a:latin typeface="Arial"/>
                        </a:rPr>
                        <a:t>Treatment</a:t>
                      </a:r>
                    </a:p>
                  </a:txBody>
                  <a:tcPr marL="45720" marR="45720" marT="27432" marB="27432" anchor="ctr">
                    <a:solidFill>
                      <a:srgbClr val="17324D"/>
                    </a:solidFill>
                  </a:tcPr>
                </a:tc>
                <a:tc>
                  <a:txBody>
                    <a:bodyPr/>
                    <a:lstStyle/>
                    <a:p>
                      <a:pPr algn="l"/>
                      <a:r>
                        <a:rPr sz="1400" b="1">
                          <a:solidFill>
                            <a:srgbClr val="FFFFFF"/>
                          </a:solidFill>
                          <a:latin typeface="Arial"/>
                        </a:rPr>
                        <a:t>Type</a:t>
                      </a:r>
                    </a:p>
                  </a:txBody>
                  <a:tcPr marL="45720" marR="45720" marT="27432" marB="27432" anchor="ctr">
                    <a:solidFill>
                      <a:srgbClr val="17324D"/>
                    </a:solidFill>
                  </a:tcPr>
                </a:tc>
                <a:tc>
                  <a:txBody>
                    <a:bodyPr/>
                    <a:lstStyle/>
                    <a:p>
                      <a:pPr algn="l"/>
                      <a:r>
                        <a:rPr sz="1400" b="1">
                          <a:solidFill>
                            <a:srgbClr val="FFFFFF"/>
                          </a:solidFill>
                          <a:latin typeface="Arial"/>
                        </a:rPr>
                        <a:t>Reported contrast</a:t>
                      </a:r>
                    </a:p>
                  </a:txBody>
                  <a:tcPr marL="45720" marR="45720" marT="27432" marB="27432" anchor="ctr">
                    <a:solidFill>
                      <a:srgbClr val="17324D"/>
                    </a:solidFill>
                  </a:tcPr>
                </a:tc>
                <a:extLst>
                  <a:ext uri="{0D108BD9-81ED-4DB2-BD59-A6C34878D82A}">
                    <a16:rowId xmlns:a16="http://schemas.microsoft.com/office/drawing/2014/main" val="10000"/>
                  </a:ext>
                </a:extLst>
              </a:tr>
              <a:tr h="393192">
                <a:tc>
                  <a:txBody>
                    <a:bodyPr/>
                    <a:lstStyle/>
                    <a:p>
                      <a:pPr algn="l"/>
                      <a:r>
                        <a:rPr sz="1400" b="0">
                          <a:solidFill>
                            <a:srgbClr val="000000"/>
                          </a:solidFill>
                          <a:latin typeface="Arial"/>
                        </a:rPr>
                        <a:t>Vigorous Activity</a:t>
                      </a:r>
                    </a:p>
                  </a:txBody>
                  <a:tcPr marL="45720" marR="45720" marT="27432" marB="27432" anchor="ctr">
                    <a:solidFill>
                      <a:srgbClr val="FFFFFF"/>
                    </a:solidFill>
                  </a:tcPr>
                </a:tc>
                <a:tc>
                  <a:txBody>
                    <a:bodyPr/>
                    <a:lstStyle/>
                    <a:p>
                      <a:pPr algn="l"/>
                      <a:r>
                        <a:rPr sz="1400" b="0">
                          <a:solidFill>
                            <a:srgbClr val="000000"/>
                          </a:solidFill>
                          <a:latin typeface="Arial"/>
                        </a:rPr>
                        <a:t>Binary</a:t>
                      </a:r>
                    </a:p>
                  </a:txBody>
                  <a:tcPr marL="45720" marR="45720" marT="27432" marB="27432" anchor="ctr">
                    <a:solidFill>
                      <a:srgbClr val="FFFFFF"/>
                    </a:solidFill>
                  </a:tcPr>
                </a:tc>
                <a:tc>
                  <a:txBody>
                    <a:bodyPr/>
                    <a:lstStyle/>
                    <a:p>
                      <a:pPr algn="l"/>
                      <a:r>
                        <a:rPr sz="1400" b="0">
                          <a:solidFill>
                            <a:srgbClr val="000000"/>
                          </a:solidFill>
                          <a:latin typeface="Arial"/>
                        </a:rPr>
                        <a:t>0 → 1</a:t>
                      </a:r>
                    </a:p>
                  </a:txBody>
                  <a:tcPr marL="45720" marR="45720" marT="27432" marB="27432" anchor="ctr">
                    <a:solidFill>
                      <a:srgbClr val="FFFFFF"/>
                    </a:solidFill>
                  </a:tcPr>
                </a:tc>
                <a:extLst>
                  <a:ext uri="{0D108BD9-81ED-4DB2-BD59-A6C34878D82A}">
                    <a16:rowId xmlns:a16="http://schemas.microsoft.com/office/drawing/2014/main" val="10001"/>
                  </a:ext>
                </a:extLst>
              </a:tr>
              <a:tr h="393192">
                <a:tc>
                  <a:txBody>
                    <a:bodyPr/>
                    <a:lstStyle/>
                    <a:p>
                      <a:pPr algn="l"/>
                      <a:r>
                        <a:rPr sz="1400" b="0">
                          <a:solidFill>
                            <a:srgbClr val="000000"/>
                          </a:solidFill>
                          <a:latin typeface="Arial"/>
                        </a:rPr>
                        <a:t>Total Calories</a:t>
                      </a:r>
                    </a:p>
                  </a:txBody>
                  <a:tcPr marL="45720" marR="45720" marT="27432" marB="27432" anchor="ctr">
                    <a:solidFill>
                      <a:srgbClr val="FAFAFA"/>
                    </a:solidFill>
                  </a:tcPr>
                </a:tc>
                <a:tc>
                  <a:txBody>
                    <a:bodyPr/>
                    <a:lstStyle/>
                    <a:p>
                      <a:pPr algn="l"/>
                      <a:r>
                        <a:rPr sz="1400" b="0">
                          <a:solidFill>
                            <a:srgbClr val="000000"/>
                          </a:solidFill>
                          <a:latin typeface="Arial"/>
                        </a:rPr>
                        <a:t>Continuous</a:t>
                      </a:r>
                    </a:p>
                  </a:txBody>
                  <a:tcPr marL="45720" marR="45720" marT="27432" marB="27432" anchor="ctr">
                    <a:solidFill>
                      <a:srgbClr val="FAFAFA"/>
                    </a:solidFill>
                  </a:tcPr>
                </a:tc>
                <a:tc>
                  <a:txBody>
                    <a:bodyPr/>
                    <a:lstStyle/>
                    <a:p>
                      <a:pPr algn="l"/>
                      <a:r>
                        <a:rPr sz="1400" b="0">
                          <a:solidFill>
                            <a:srgbClr val="000000"/>
                          </a:solidFill>
                          <a:latin typeface="Arial"/>
                        </a:rPr>
                        <a:t>+100 kcal</a:t>
                      </a:r>
                    </a:p>
                  </a:txBody>
                  <a:tcPr marL="45720" marR="45720" marT="27432" marB="27432" anchor="ctr">
                    <a:solidFill>
                      <a:srgbClr val="FAFAFA"/>
                    </a:solidFill>
                  </a:tcPr>
                </a:tc>
                <a:extLst>
                  <a:ext uri="{0D108BD9-81ED-4DB2-BD59-A6C34878D82A}">
                    <a16:rowId xmlns:a16="http://schemas.microsoft.com/office/drawing/2014/main" val="10002"/>
                  </a:ext>
                </a:extLst>
              </a:tr>
              <a:tr h="393192">
                <a:tc>
                  <a:txBody>
                    <a:bodyPr/>
                    <a:lstStyle/>
                    <a:p>
                      <a:pPr algn="l"/>
                      <a:r>
                        <a:rPr sz="1400" b="0">
                          <a:solidFill>
                            <a:srgbClr val="000000"/>
                          </a:solidFill>
                          <a:latin typeface="Arial"/>
                        </a:rPr>
                        <a:t>Protein</a:t>
                      </a:r>
                    </a:p>
                  </a:txBody>
                  <a:tcPr marL="45720" marR="45720" marT="27432" marB="27432" anchor="ctr">
                    <a:solidFill>
                      <a:srgbClr val="FFFFFF"/>
                    </a:solidFill>
                  </a:tcPr>
                </a:tc>
                <a:tc>
                  <a:txBody>
                    <a:bodyPr/>
                    <a:lstStyle/>
                    <a:p>
                      <a:pPr algn="l"/>
                      <a:r>
                        <a:rPr sz="1400" b="0">
                          <a:solidFill>
                            <a:srgbClr val="000000"/>
                          </a:solidFill>
                          <a:latin typeface="Arial"/>
                        </a:rPr>
                        <a:t>Continuous</a:t>
                      </a:r>
                    </a:p>
                  </a:txBody>
                  <a:tcPr marL="45720" marR="45720" marT="27432" marB="27432" anchor="ctr">
                    <a:solidFill>
                      <a:srgbClr val="FFFFFF"/>
                    </a:solidFill>
                  </a:tcPr>
                </a:tc>
                <a:tc>
                  <a:txBody>
                    <a:bodyPr/>
                    <a:lstStyle/>
                    <a:p>
                      <a:pPr algn="l"/>
                      <a:r>
                        <a:rPr sz="1400" b="0">
                          <a:solidFill>
                            <a:srgbClr val="000000"/>
                          </a:solidFill>
                          <a:latin typeface="Arial"/>
                        </a:rPr>
                        <a:t>+10 g</a:t>
                      </a:r>
                    </a:p>
                  </a:txBody>
                  <a:tcPr marL="45720" marR="45720" marT="27432" marB="27432" anchor="ctr">
                    <a:solidFill>
                      <a:srgbClr val="FFFFFF"/>
                    </a:solidFill>
                  </a:tcPr>
                </a:tc>
                <a:extLst>
                  <a:ext uri="{0D108BD9-81ED-4DB2-BD59-A6C34878D82A}">
                    <a16:rowId xmlns:a16="http://schemas.microsoft.com/office/drawing/2014/main" val="10003"/>
                  </a:ext>
                </a:extLst>
              </a:tr>
              <a:tr h="393192">
                <a:tc>
                  <a:txBody>
                    <a:bodyPr/>
                    <a:lstStyle/>
                    <a:p>
                      <a:pPr algn="l"/>
                      <a:r>
                        <a:rPr sz="1400" b="0" dirty="0">
                          <a:solidFill>
                            <a:srgbClr val="000000"/>
                          </a:solidFill>
                          <a:latin typeface="Arial"/>
                        </a:rPr>
                        <a:t>Carbohydrates</a:t>
                      </a:r>
                    </a:p>
                  </a:txBody>
                  <a:tcPr marL="45720" marR="45720" marT="27432" marB="27432" anchor="ctr">
                    <a:solidFill>
                      <a:srgbClr val="FAFAFA"/>
                    </a:solidFill>
                  </a:tcPr>
                </a:tc>
                <a:tc>
                  <a:txBody>
                    <a:bodyPr/>
                    <a:lstStyle/>
                    <a:p>
                      <a:pPr algn="l"/>
                      <a:r>
                        <a:rPr sz="1400" b="0">
                          <a:solidFill>
                            <a:srgbClr val="000000"/>
                          </a:solidFill>
                          <a:latin typeface="Arial"/>
                        </a:rPr>
                        <a:t>Continuous</a:t>
                      </a:r>
                    </a:p>
                  </a:txBody>
                  <a:tcPr marL="45720" marR="45720" marT="27432" marB="27432" anchor="ctr">
                    <a:solidFill>
                      <a:srgbClr val="FAFAFA"/>
                    </a:solidFill>
                  </a:tcPr>
                </a:tc>
                <a:tc>
                  <a:txBody>
                    <a:bodyPr/>
                    <a:lstStyle/>
                    <a:p>
                      <a:pPr algn="l"/>
                      <a:r>
                        <a:rPr sz="1400" b="0" dirty="0">
                          <a:solidFill>
                            <a:srgbClr val="000000"/>
                          </a:solidFill>
                          <a:latin typeface="Arial"/>
                        </a:rPr>
                        <a:t>+10 g</a:t>
                      </a:r>
                    </a:p>
                  </a:txBody>
                  <a:tcPr marL="45720" marR="45720" marT="27432" marB="27432" anchor="ctr">
                    <a:solidFill>
                      <a:srgbClr val="FAFAF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677025" y="1143000"/>
            <a:ext cx="3200400" cy="283154"/>
          </a:xfrm>
          <a:prstGeom prst="rect">
            <a:avLst/>
          </a:prstGeom>
          <a:noFill/>
        </p:spPr>
        <p:txBody>
          <a:bodyPr wrap="square" lIns="27432" tIns="18288" rIns="27432" bIns="18288" anchor="t">
            <a:spAutoFit/>
          </a:bodyPr>
          <a:lstStyle/>
          <a:p>
            <a:r>
              <a:rPr sz="1600" b="1" dirty="0">
                <a:solidFill>
                  <a:srgbClr val="287D7A"/>
                </a:solidFill>
                <a:latin typeface="Arial"/>
              </a:rPr>
              <a:t>Modeling choices</a:t>
            </a:r>
          </a:p>
        </p:txBody>
      </p:sp>
      <p:sp>
        <p:nvSpPr>
          <p:cNvPr id="8" name="TextBox 7"/>
          <p:cNvSpPr txBox="1"/>
          <p:nvPr/>
        </p:nvSpPr>
        <p:spPr>
          <a:xfrm>
            <a:off x="6677025" y="1508760"/>
            <a:ext cx="4937760" cy="2086725"/>
          </a:xfrm>
          <a:prstGeom prst="rect">
            <a:avLst/>
          </a:prstGeom>
          <a:noFill/>
        </p:spPr>
        <p:txBody>
          <a:bodyPr wrap="square" lIns="45720" tIns="27432" rIns="45720" bIns="27432">
            <a:spAutoFit/>
          </a:bodyPr>
          <a:lstStyle/>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Identification: backdoor adjustment from selected DAG</a:t>
            </a:r>
            <a:r>
              <a:rPr lang="en-US" sz="1600" dirty="0"/>
              <a:t> automatically</a:t>
            </a:r>
            <a:r>
              <a:rPr sz="1600" dirty="0"/>
              <a:t> or supplied manual set</a:t>
            </a:r>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Estimator: </a:t>
            </a:r>
            <a:r>
              <a:rPr sz="1600" dirty="0" err="1"/>
              <a:t>backdoor.linear_regression</a:t>
            </a:r>
            <a:endParaRPr sz="1600" dirty="0"/>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Target: </a:t>
            </a:r>
            <a:r>
              <a:rPr sz="1600" dirty="0" err="1"/>
              <a:t>target_units</a:t>
            </a:r>
            <a:r>
              <a:rPr sz="1600" dirty="0"/>
              <a:t>="ate"</a:t>
            </a:r>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a:t>Continuous treatments rescaled before fitting</a:t>
            </a:r>
          </a:p>
          <a:p>
            <a:pPr marL="285750" indent="-285750">
              <a:lnSpc>
                <a:spcPct val="100000"/>
              </a:lnSpc>
              <a:spcAft>
                <a:spcPts val="600"/>
              </a:spcAft>
              <a:buFont typeface="Wingdings" panose="05000000000000000000" pitchFamily="2" charset="2"/>
              <a:buChar char="§"/>
              <a:defRPr sz="1350">
                <a:solidFill>
                  <a:srgbClr val="000000"/>
                </a:solidFill>
                <a:latin typeface="Arial"/>
              </a:defRPr>
            </a:pPr>
            <a:r>
              <a:rPr sz="1600" dirty="0" err="1"/>
              <a:t>effect_modifiers</a:t>
            </a:r>
            <a:r>
              <a:rPr sz="1600" dirty="0"/>
              <a:t>=[] to prevent automatic CATE/interaction expansion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ATE estimates from the selected DAG</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Results</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14</a:t>
            </a:r>
          </a:p>
        </p:txBody>
      </p:sp>
      <p:graphicFrame>
        <p:nvGraphicFramePr>
          <p:cNvPr id="6" name="Table 5"/>
          <p:cNvGraphicFramePr>
            <a:graphicFrameLocks noGrp="1"/>
          </p:cNvGraphicFramePr>
          <p:nvPr>
            <p:extLst>
              <p:ext uri="{D42A27DB-BD31-4B8C-83A1-F6EECF244321}">
                <p14:modId xmlns:p14="http://schemas.microsoft.com/office/powerpoint/2010/main" val="612134260"/>
              </p:ext>
            </p:extLst>
          </p:nvPr>
        </p:nvGraphicFramePr>
        <p:xfrm>
          <a:off x="731520" y="947219"/>
          <a:ext cx="6537960" cy="36576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522514">
                <a:tc>
                  <a:txBody>
                    <a:bodyPr/>
                    <a:lstStyle/>
                    <a:p>
                      <a:pPr algn="l"/>
                      <a:r>
                        <a:rPr sz="1400" b="1" dirty="0">
                          <a:solidFill>
                            <a:srgbClr val="FFFFFF"/>
                          </a:solidFill>
                          <a:latin typeface="Arial"/>
                        </a:rPr>
                        <a:t>Treatment</a:t>
                      </a:r>
                    </a:p>
                  </a:txBody>
                  <a:tcPr marL="45720" marR="45720" marT="27432" marB="27432">
                    <a:solidFill>
                      <a:srgbClr val="17324D"/>
                    </a:solidFill>
                  </a:tcPr>
                </a:tc>
                <a:tc>
                  <a:txBody>
                    <a:bodyPr/>
                    <a:lstStyle/>
                    <a:p>
                      <a:pPr algn="l"/>
                      <a:r>
                        <a:rPr sz="1400" b="1">
                          <a:solidFill>
                            <a:srgbClr val="FFFFFF"/>
                          </a:solidFill>
                          <a:latin typeface="Arial"/>
                        </a:rPr>
                        <a:t>Set</a:t>
                      </a:r>
                    </a:p>
                  </a:txBody>
                  <a:tcPr marL="45720" marR="45720" marT="27432" marB="27432">
                    <a:solidFill>
                      <a:srgbClr val="17324D"/>
                    </a:solidFill>
                  </a:tcPr>
                </a:tc>
                <a:tc>
                  <a:txBody>
                    <a:bodyPr/>
                    <a:lstStyle/>
                    <a:p>
                      <a:pPr algn="l"/>
                      <a:r>
                        <a:rPr sz="1400" b="1">
                          <a:solidFill>
                            <a:srgbClr val="FFFFFF"/>
                          </a:solidFill>
                          <a:latin typeface="Arial"/>
                        </a:rPr>
                        <a:t>ATE</a:t>
                      </a:r>
                    </a:p>
                  </a:txBody>
                  <a:tcPr marL="45720" marR="45720" marT="27432" marB="27432">
                    <a:solidFill>
                      <a:srgbClr val="17324D"/>
                    </a:solidFill>
                  </a:tcPr>
                </a:tc>
                <a:tc>
                  <a:txBody>
                    <a:bodyPr/>
                    <a:lstStyle/>
                    <a:p>
                      <a:pPr algn="l"/>
                      <a:r>
                        <a:rPr sz="1400" b="1" dirty="0">
                          <a:solidFill>
                            <a:srgbClr val="FFFFFF"/>
                          </a:solidFill>
                          <a:latin typeface="Arial"/>
                        </a:rPr>
                        <a:t>95% CI</a:t>
                      </a:r>
                    </a:p>
                  </a:txBody>
                  <a:tcPr marL="45720" marR="45720" marT="27432" marB="27432">
                    <a:solidFill>
                      <a:srgbClr val="17324D"/>
                    </a:solidFill>
                  </a:tcPr>
                </a:tc>
                <a:tc>
                  <a:txBody>
                    <a:bodyPr/>
                    <a:lstStyle/>
                    <a:p>
                      <a:pPr algn="l"/>
                      <a:r>
                        <a:rPr sz="1400" b="1">
                          <a:solidFill>
                            <a:srgbClr val="FFFFFF"/>
                          </a:solidFill>
                          <a:latin typeface="Arial"/>
                        </a:rPr>
                        <a:t>p</a:t>
                      </a:r>
                    </a:p>
                  </a:txBody>
                  <a:tcPr marL="45720" marR="45720" marT="27432" marB="27432">
                    <a:solidFill>
                      <a:srgbClr val="17324D"/>
                    </a:solidFill>
                  </a:tcPr>
                </a:tc>
                <a:extLst>
                  <a:ext uri="{0D108BD9-81ED-4DB2-BD59-A6C34878D82A}">
                    <a16:rowId xmlns:a16="http://schemas.microsoft.com/office/drawing/2014/main" val="10000"/>
                  </a:ext>
                </a:extLst>
              </a:tr>
              <a:tr h="522514">
                <a:tc>
                  <a:txBody>
                    <a:bodyPr/>
                    <a:lstStyle/>
                    <a:p>
                      <a:pPr algn="l"/>
                      <a:r>
                        <a:rPr sz="1400" b="0">
                          <a:solidFill>
                            <a:srgbClr val="000000"/>
                          </a:solidFill>
                          <a:latin typeface="Arial"/>
                        </a:rPr>
                        <a:t>Vigorous Activity</a:t>
                      </a:r>
                    </a:p>
                  </a:txBody>
                  <a:tcPr marL="45720" marR="45720" marT="27432" marB="27432">
                    <a:solidFill>
                      <a:srgbClr val="FFFFFF"/>
                    </a:solidFill>
                  </a:tcPr>
                </a:tc>
                <a:tc>
                  <a:txBody>
                    <a:bodyPr/>
                    <a:lstStyle/>
                    <a:p>
                      <a:pPr algn="l"/>
                      <a:r>
                        <a:rPr sz="1400" b="0">
                          <a:solidFill>
                            <a:srgbClr val="000000"/>
                          </a:solidFill>
                          <a:latin typeface="Arial"/>
                        </a:rPr>
                        <a:t>Manual</a:t>
                      </a:r>
                    </a:p>
                  </a:txBody>
                  <a:tcPr marL="45720" marR="45720" marT="27432" marB="27432">
                    <a:solidFill>
                      <a:srgbClr val="FFFFFF"/>
                    </a:solidFill>
                  </a:tcPr>
                </a:tc>
                <a:tc>
                  <a:txBody>
                    <a:bodyPr/>
                    <a:lstStyle/>
                    <a:p>
                      <a:pPr algn="l"/>
                      <a:r>
                        <a:rPr sz="1400" b="0">
                          <a:solidFill>
                            <a:srgbClr val="000000"/>
                          </a:solidFill>
                          <a:latin typeface="Arial"/>
                        </a:rPr>
                        <a:t>-1.696</a:t>
                      </a:r>
                    </a:p>
                  </a:txBody>
                  <a:tcPr marL="45720" marR="45720" marT="27432" marB="27432">
                    <a:solidFill>
                      <a:srgbClr val="FFFFFF"/>
                    </a:solidFill>
                  </a:tcPr>
                </a:tc>
                <a:tc>
                  <a:txBody>
                    <a:bodyPr/>
                    <a:lstStyle/>
                    <a:p>
                      <a:pPr algn="l"/>
                      <a:r>
                        <a:rPr sz="1400" b="0">
                          <a:solidFill>
                            <a:srgbClr val="000000"/>
                          </a:solidFill>
                          <a:latin typeface="Arial"/>
                        </a:rPr>
                        <a:t>[-2.252, -1.140]</a:t>
                      </a:r>
                    </a:p>
                  </a:txBody>
                  <a:tcPr marL="45720" marR="45720" marT="27432" marB="27432">
                    <a:solidFill>
                      <a:srgbClr val="FFFFFF"/>
                    </a:solidFill>
                  </a:tcPr>
                </a:tc>
                <a:tc>
                  <a:txBody>
                    <a:bodyPr/>
                    <a:lstStyle/>
                    <a:p>
                      <a:pPr algn="l"/>
                      <a:r>
                        <a:rPr sz="1400" b="0" dirty="0">
                          <a:solidFill>
                            <a:srgbClr val="000000"/>
                          </a:solidFill>
                          <a:latin typeface="Arial"/>
                        </a:rPr>
                        <a:t>2.40e-09</a:t>
                      </a:r>
                    </a:p>
                  </a:txBody>
                  <a:tcPr marL="45720" marR="45720" marT="27432" marB="27432">
                    <a:solidFill>
                      <a:srgbClr val="FFFFFF"/>
                    </a:solidFill>
                  </a:tcPr>
                </a:tc>
                <a:extLst>
                  <a:ext uri="{0D108BD9-81ED-4DB2-BD59-A6C34878D82A}">
                    <a16:rowId xmlns:a16="http://schemas.microsoft.com/office/drawing/2014/main" val="10001"/>
                  </a:ext>
                </a:extLst>
              </a:tr>
              <a:tr h="522514">
                <a:tc>
                  <a:txBody>
                    <a:bodyPr/>
                    <a:lstStyle/>
                    <a:p>
                      <a:pPr algn="l"/>
                      <a:endParaRPr sz="1400"/>
                    </a:p>
                  </a:txBody>
                  <a:tcPr marL="45720" marR="45720" marT="27432" marB="27432">
                    <a:solidFill>
                      <a:srgbClr val="FAFAFA"/>
                    </a:solidFill>
                  </a:tcPr>
                </a:tc>
                <a:tc>
                  <a:txBody>
                    <a:bodyPr/>
                    <a:lstStyle/>
                    <a:p>
                      <a:pPr algn="l"/>
                      <a:r>
                        <a:rPr sz="1400" b="0">
                          <a:solidFill>
                            <a:srgbClr val="000000"/>
                          </a:solidFill>
                          <a:latin typeface="Arial"/>
                        </a:rPr>
                        <a:t>Auto</a:t>
                      </a:r>
                    </a:p>
                  </a:txBody>
                  <a:tcPr marL="45720" marR="45720" marT="27432" marB="27432">
                    <a:solidFill>
                      <a:srgbClr val="FAFAFA"/>
                    </a:solidFill>
                  </a:tcPr>
                </a:tc>
                <a:tc>
                  <a:txBody>
                    <a:bodyPr/>
                    <a:lstStyle/>
                    <a:p>
                      <a:pPr algn="l"/>
                      <a:r>
                        <a:rPr sz="1400" b="0">
                          <a:solidFill>
                            <a:srgbClr val="000000"/>
                          </a:solidFill>
                          <a:latin typeface="Arial"/>
                        </a:rPr>
                        <a:t>-1.778</a:t>
                      </a:r>
                    </a:p>
                  </a:txBody>
                  <a:tcPr marL="45720" marR="45720" marT="27432" marB="27432">
                    <a:solidFill>
                      <a:srgbClr val="FAFAFA"/>
                    </a:solidFill>
                  </a:tcPr>
                </a:tc>
                <a:tc>
                  <a:txBody>
                    <a:bodyPr/>
                    <a:lstStyle/>
                    <a:p>
                      <a:pPr algn="l"/>
                      <a:r>
                        <a:rPr sz="1400" b="0">
                          <a:solidFill>
                            <a:srgbClr val="000000"/>
                          </a:solidFill>
                          <a:latin typeface="Arial"/>
                        </a:rPr>
                        <a:t>[-2.320, -1.236]</a:t>
                      </a:r>
                    </a:p>
                  </a:txBody>
                  <a:tcPr marL="45720" marR="45720" marT="27432" marB="27432">
                    <a:solidFill>
                      <a:srgbClr val="FAFAFA"/>
                    </a:solidFill>
                  </a:tcPr>
                </a:tc>
                <a:tc>
                  <a:txBody>
                    <a:bodyPr/>
                    <a:lstStyle/>
                    <a:p>
                      <a:pPr algn="l"/>
                      <a:r>
                        <a:rPr sz="1400" b="0">
                          <a:solidFill>
                            <a:srgbClr val="000000"/>
                          </a:solidFill>
                          <a:latin typeface="Arial"/>
                        </a:rPr>
                        <a:t>1.39e-10</a:t>
                      </a:r>
                    </a:p>
                  </a:txBody>
                  <a:tcPr marL="45720" marR="45720" marT="27432" marB="27432">
                    <a:solidFill>
                      <a:srgbClr val="FAFAFA"/>
                    </a:solidFill>
                  </a:tcPr>
                </a:tc>
                <a:extLst>
                  <a:ext uri="{0D108BD9-81ED-4DB2-BD59-A6C34878D82A}">
                    <a16:rowId xmlns:a16="http://schemas.microsoft.com/office/drawing/2014/main" val="10002"/>
                  </a:ext>
                </a:extLst>
              </a:tr>
              <a:tr h="522514">
                <a:tc>
                  <a:txBody>
                    <a:bodyPr/>
                    <a:lstStyle/>
                    <a:p>
                      <a:pPr algn="l"/>
                      <a:r>
                        <a:rPr sz="1400" b="0">
                          <a:solidFill>
                            <a:srgbClr val="000000"/>
                          </a:solidFill>
                          <a:latin typeface="Arial"/>
                        </a:rPr>
                        <a:t>Total Calories</a:t>
                      </a:r>
                    </a:p>
                  </a:txBody>
                  <a:tcPr marL="45720" marR="45720" marT="27432" marB="27432">
                    <a:solidFill>
                      <a:srgbClr val="FFFFFF"/>
                    </a:solidFill>
                  </a:tcPr>
                </a:tc>
                <a:tc>
                  <a:txBody>
                    <a:bodyPr/>
                    <a:lstStyle/>
                    <a:p>
                      <a:pPr algn="l"/>
                      <a:r>
                        <a:rPr sz="1400" b="0">
                          <a:solidFill>
                            <a:srgbClr val="000000"/>
                          </a:solidFill>
                          <a:latin typeface="Arial"/>
                        </a:rPr>
                        <a:t>Manual</a:t>
                      </a:r>
                    </a:p>
                  </a:txBody>
                  <a:tcPr marL="45720" marR="45720" marT="27432" marB="27432">
                    <a:solidFill>
                      <a:srgbClr val="FFFFFF"/>
                    </a:solidFill>
                  </a:tcPr>
                </a:tc>
                <a:tc>
                  <a:txBody>
                    <a:bodyPr/>
                    <a:lstStyle/>
                    <a:p>
                      <a:pPr algn="l"/>
                      <a:r>
                        <a:rPr sz="1400" b="0">
                          <a:solidFill>
                            <a:srgbClr val="000000"/>
                          </a:solidFill>
                          <a:latin typeface="Arial"/>
                        </a:rPr>
                        <a:t>0.0316</a:t>
                      </a:r>
                    </a:p>
                  </a:txBody>
                  <a:tcPr marL="45720" marR="45720" marT="27432" marB="27432">
                    <a:solidFill>
                      <a:srgbClr val="FFFFFF"/>
                    </a:solidFill>
                  </a:tcPr>
                </a:tc>
                <a:tc>
                  <a:txBody>
                    <a:bodyPr/>
                    <a:lstStyle/>
                    <a:p>
                      <a:pPr algn="l"/>
                      <a:r>
                        <a:rPr sz="1400" b="0">
                          <a:solidFill>
                            <a:srgbClr val="000000"/>
                          </a:solidFill>
                          <a:latin typeface="Arial"/>
                        </a:rPr>
                        <a:t>[0.0057, 0.0575]</a:t>
                      </a:r>
                    </a:p>
                  </a:txBody>
                  <a:tcPr marL="45720" marR="45720" marT="27432" marB="27432">
                    <a:solidFill>
                      <a:srgbClr val="FFFFFF"/>
                    </a:solidFill>
                  </a:tcPr>
                </a:tc>
                <a:tc>
                  <a:txBody>
                    <a:bodyPr/>
                    <a:lstStyle/>
                    <a:p>
                      <a:pPr algn="l"/>
                      <a:r>
                        <a:rPr sz="1400" b="0">
                          <a:solidFill>
                            <a:srgbClr val="000000"/>
                          </a:solidFill>
                          <a:latin typeface="Arial"/>
                        </a:rPr>
                        <a:t>0.0166</a:t>
                      </a:r>
                    </a:p>
                  </a:txBody>
                  <a:tcPr marL="45720" marR="45720" marT="27432" marB="27432">
                    <a:solidFill>
                      <a:srgbClr val="FFFFFF"/>
                    </a:solidFill>
                  </a:tcPr>
                </a:tc>
                <a:extLst>
                  <a:ext uri="{0D108BD9-81ED-4DB2-BD59-A6C34878D82A}">
                    <a16:rowId xmlns:a16="http://schemas.microsoft.com/office/drawing/2014/main" val="10003"/>
                  </a:ext>
                </a:extLst>
              </a:tr>
              <a:tr h="522514">
                <a:tc>
                  <a:txBody>
                    <a:bodyPr/>
                    <a:lstStyle/>
                    <a:p>
                      <a:pPr algn="l"/>
                      <a:endParaRPr sz="1400"/>
                    </a:p>
                  </a:txBody>
                  <a:tcPr marL="45720" marR="45720" marT="27432" marB="27432">
                    <a:solidFill>
                      <a:srgbClr val="FAFAFA"/>
                    </a:solidFill>
                  </a:tcPr>
                </a:tc>
                <a:tc>
                  <a:txBody>
                    <a:bodyPr/>
                    <a:lstStyle/>
                    <a:p>
                      <a:pPr algn="l"/>
                      <a:r>
                        <a:rPr sz="1400" b="0">
                          <a:solidFill>
                            <a:srgbClr val="000000"/>
                          </a:solidFill>
                          <a:latin typeface="Arial"/>
                        </a:rPr>
                        <a:t>Auto</a:t>
                      </a:r>
                    </a:p>
                  </a:txBody>
                  <a:tcPr marL="45720" marR="45720" marT="27432" marB="27432">
                    <a:solidFill>
                      <a:srgbClr val="FAFAFA"/>
                    </a:solidFill>
                  </a:tcPr>
                </a:tc>
                <a:tc>
                  <a:txBody>
                    <a:bodyPr/>
                    <a:lstStyle/>
                    <a:p>
                      <a:pPr algn="l"/>
                      <a:r>
                        <a:rPr sz="1400" b="0">
                          <a:solidFill>
                            <a:srgbClr val="000000"/>
                          </a:solidFill>
                          <a:latin typeface="Arial"/>
                        </a:rPr>
                        <a:t>0.0266</a:t>
                      </a:r>
                    </a:p>
                  </a:txBody>
                  <a:tcPr marL="45720" marR="45720" marT="27432" marB="27432">
                    <a:solidFill>
                      <a:srgbClr val="FAFAFA"/>
                    </a:solidFill>
                  </a:tcPr>
                </a:tc>
                <a:tc>
                  <a:txBody>
                    <a:bodyPr/>
                    <a:lstStyle/>
                    <a:p>
                      <a:pPr algn="l"/>
                      <a:r>
                        <a:rPr sz="1400" b="0">
                          <a:solidFill>
                            <a:srgbClr val="000000"/>
                          </a:solidFill>
                          <a:latin typeface="Arial"/>
                        </a:rPr>
                        <a:t>[0.0009, 0.0523]</a:t>
                      </a:r>
                    </a:p>
                  </a:txBody>
                  <a:tcPr marL="45720" marR="45720" marT="27432" marB="27432">
                    <a:solidFill>
                      <a:srgbClr val="FAFAFA"/>
                    </a:solidFill>
                  </a:tcPr>
                </a:tc>
                <a:tc>
                  <a:txBody>
                    <a:bodyPr/>
                    <a:lstStyle/>
                    <a:p>
                      <a:pPr algn="l"/>
                      <a:r>
                        <a:rPr sz="1400" b="0">
                          <a:solidFill>
                            <a:srgbClr val="000000"/>
                          </a:solidFill>
                          <a:latin typeface="Arial"/>
                        </a:rPr>
                        <a:t>0.0425</a:t>
                      </a:r>
                    </a:p>
                  </a:txBody>
                  <a:tcPr marL="45720" marR="45720" marT="27432" marB="27432">
                    <a:solidFill>
                      <a:srgbClr val="FAFAFA"/>
                    </a:solidFill>
                  </a:tcPr>
                </a:tc>
                <a:extLst>
                  <a:ext uri="{0D108BD9-81ED-4DB2-BD59-A6C34878D82A}">
                    <a16:rowId xmlns:a16="http://schemas.microsoft.com/office/drawing/2014/main" val="10004"/>
                  </a:ext>
                </a:extLst>
              </a:tr>
              <a:tr h="522514">
                <a:tc>
                  <a:txBody>
                    <a:bodyPr/>
                    <a:lstStyle/>
                    <a:p>
                      <a:pPr algn="l"/>
                      <a:r>
                        <a:rPr sz="1400" b="0">
                          <a:solidFill>
                            <a:srgbClr val="000000"/>
                          </a:solidFill>
                          <a:latin typeface="Arial"/>
                        </a:rPr>
                        <a:t>Protein</a:t>
                      </a:r>
                    </a:p>
                  </a:txBody>
                  <a:tcPr marL="45720" marR="45720" marT="27432" marB="27432">
                    <a:solidFill>
                      <a:srgbClr val="FFFFFF"/>
                    </a:solidFill>
                  </a:tcPr>
                </a:tc>
                <a:tc>
                  <a:txBody>
                    <a:bodyPr/>
                    <a:lstStyle/>
                    <a:p>
                      <a:pPr algn="l"/>
                      <a:r>
                        <a:rPr sz="1400" b="0" dirty="0">
                          <a:solidFill>
                            <a:srgbClr val="000000"/>
                          </a:solidFill>
                          <a:latin typeface="Arial"/>
                        </a:rPr>
                        <a:t>Manual</a:t>
                      </a:r>
                      <a:endParaRPr lang="en-US" sz="1400" b="0" dirty="0">
                        <a:solidFill>
                          <a:srgbClr val="000000"/>
                        </a:solidFill>
                        <a:latin typeface="Arial"/>
                      </a:endParaRPr>
                    </a:p>
                    <a:p>
                      <a:pPr algn="l"/>
                      <a:r>
                        <a:rPr lang="en-US" sz="1400" b="0" dirty="0">
                          <a:solidFill>
                            <a:srgbClr val="000000"/>
                          </a:solidFill>
                          <a:latin typeface="Arial"/>
                        </a:rPr>
                        <a:t>&amp; Auto</a:t>
                      </a:r>
                      <a:endParaRPr sz="1400" b="0" dirty="0">
                        <a:solidFill>
                          <a:srgbClr val="000000"/>
                        </a:solidFill>
                        <a:latin typeface="Arial"/>
                      </a:endParaRPr>
                    </a:p>
                  </a:txBody>
                  <a:tcPr marL="45720" marR="45720" marT="27432" marB="27432">
                    <a:solidFill>
                      <a:srgbClr val="FFFFFF"/>
                    </a:solidFill>
                  </a:tcPr>
                </a:tc>
                <a:tc>
                  <a:txBody>
                    <a:bodyPr/>
                    <a:lstStyle/>
                    <a:p>
                      <a:pPr algn="l"/>
                      <a:r>
                        <a:rPr sz="1400" b="0">
                          <a:solidFill>
                            <a:srgbClr val="000000"/>
                          </a:solidFill>
                          <a:latin typeface="Arial"/>
                        </a:rPr>
                        <a:t>0.0446</a:t>
                      </a:r>
                    </a:p>
                  </a:txBody>
                  <a:tcPr marL="45720" marR="45720" marT="27432" marB="27432">
                    <a:solidFill>
                      <a:srgbClr val="FFFFFF"/>
                    </a:solidFill>
                  </a:tcPr>
                </a:tc>
                <a:tc>
                  <a:txBody>
                    <a:bodyPr/>
                    <a:lstStyle/>
                    <a:p>
                      <a:pPr algn="l"/>
                      <a:r>
                        <a:rPr sz="1400" b="0">
                          <a:solidFill>
                            <a:srgbClr val="000000"/>
                          </a:solidFill>
                          <a:latin typeface="Arial"/>
                        </a:rPr>
                        <a:t>[-0.0194, 0.1086]</a:t>
                      </a:r>
                    </a:p>
                  </a:txBody>
                  <a:tcPr marL="45720" marR="45720" marT="27432" marB="27432">
                    <a:solidFill>
                      <a:srgbClr val="FFFFFF"/>
                    </a:solidFill>
                  </a:tcPr>
                </a:tc>
                <a:tc>
                  <a:txBody>
                    <a:bodyPr/>
                    <a:lstStyle/>
                    <a:p>
                      <a:pPr algn="l"/>
                      <a:r>
                        <a:rPr sz="1400" b="0" dirty="0">
                          <a:solidFill>
                            <a:srgbClr val="000000"/>
                          </a:solidFill>
                          <a:latin typeface="Arial"/>
                        </a:rPr>
                        <a:t>0.172</a:t>
                      </a:r>
                    </a:p>
                  </a:txBody>
                  <a:tcPr marL="45720" marR="45720" marT="27432" marB="27432">
                    <a:solidFill>
                      <a:srgbClr val="FFFFFF"/>
                    </a:solidFill>
                  </a:tcPr>
                </a:tc>
                <a:extLst>
                  <a:ext uri="{0D108BD9-81ED-4DB2-BD59-A6C34878D82A}">
                    <a16:rowId xmlns:a16="http://schemas.microsoft.com/office/drawing/2014/main" val="10005"/>
                  </a:ext>
                </a:extLst>
              </a:tr>
              <a:tr h="522516">
                <a:tc>
                  <a:txBody>
                    <a:bodyPr/>
                    <a:lstStyle/>
                    <a:p>
                      <a:pPr algn="l"/>
                      <a:r>
                        <a:rPr sz="1400" b="0">
                          <a:solidFill>
                            <a:srgbClr val="000000"/>
                          </a:solidFill>
                          <a:latin typeface="Arial"/>
                        </a:rPr>
                        <a:t>Carbohydrates</a:t>
                      </a:r>
                    </a:p>
                  </a:txBody>
                  <a:tcPr marL="45720" marR="45720" marT="27432" marB="27432">
                    <a:solidFill>
                      <a:srgbClr val="FAFAFA"/>
                    </a:solidFill>
                  </a:tcPr>
                </a:tc>
                <a:tc>
                  <a:txBody>
                    <a:bodyPr/>
                    <a:lstStyle/>
                    <a:p>
                      <a:pPr algn="l"/>
                      <a:r>
                        <a:rPr sz="1400" b="0" dirty="0">
                          <a:solidFill>
                            <a:srgbClr val="000000"/>
                          </a:solidFill>
                          <a:latin typeface="Arial"/>
                        </a:rPr>
                        <a:t>Manual</a:t>
                      </a:r>
                      <a:br>
                        <a:rPr lang="en-US" sz="1400" b="0" dirty="0">
                          <a:solidFill>
                            <a:srgbClr val="000000"/>
                          </a:solidFill>
                          <a:latin typeface="Arial"/>
                        </a:rPr>
                      </a:br>
                      <a:r>
                        <a:rPr lang="en-US" sz="1400" b="0" dirty="0">
                          <a:solidFill>
                            <a:srgbClr val="000000"/>
                          </a:solidFill>
                          <a:latin typeface="Arial"/>
                        </a:rPr>
                        <a:t>&amp; Auto</a:t>
                      </a:r>
                      <a:endParaRPr sz="1400" b="0" dirty="0">
                        <a:solidFill>
                          <a:srgbClr val="000000"/>
                        </a:solidFill>
                        <a:latin typeface="Arial"/>
                      </a:endParaRPr>
                    </a:p>
                  </a:txBody>
                  <a:tcPr marL="45720" marR="45720" marT="27432" marB="27432">
                    <a:solidFill>
                      <a:srgbClr val="FAFAFA"/>
                    </a:solidFill>
                  </a:tcPr>
                </a:tc>
                <a:tc>
                  <a:txBody>
                    <a:bodyPr/>
                    <a:lstStyle/>
                    <a:p>
                      <a:pPr algn="l"/>
                      <a:r>
                        <a:rPr sz="1400" b="0">
                          <a:solidFill>
                            <a:srgbClr val="000000"/>
                          </a:solidFill>
                          <a:latin typeface="Arial"/>
                        </a:rPr>
                        <a:t>-0.0349</a:t>
                      </a:r>
                    </a:p>
                  </a:txBody>
                  <a:tcPr marL="45720" marR="45720" marT="27432" marB="27432">
                    <a:solidFill>
                      <a:srgbClr val="FAFAFA"/>
                    </a:solidFill>
                  </a:tcPr>
                </a:tc>
                <a:tc>
                  <a:txBody>
                    <a:bodyPr/>
                    <a:lstStyle/>
                    <a:p>
                      <a:pPr algn="l"/>
                      <a:r>
                        <a:rPr sz="1400" b="0">
                          <a:solidFill>
                            <a:srgbClr val="000000"/>
                          </a:solidFill>
                          <a:latin typeface="Arial"/>
                        </a:rPr>
                        <a:t>[-0.0682, -0.0016]</a:t>
                      </a:r>
                    </a:p>
                  </a:txBody>
                  <a:tcPr marL="45720" marR="45720" marT="27432" marB="27432">
                    <a:solidFill>
                      <a:srgbClr val="FAFAFA"/>
                    </a:solidFill>
                  </a:tcPr>
                </a:tc>
                <a:tc>
                  <a:txBody>
                    <a:bodyPr/>
                    <a:lstStyle/>
                    <a:p>
                      <a:pPr algn="l"/>
                      <a:r>
                        <a:rPr sz="1400" b="0" dirty="0">
                          <a:solidFill>
                            <a:srgbClr val="000000"/>
                          </a:solidFill>
                          <a:latin typeface="Arial"/>
                        </a:rPr>
                        <a:t>0.0399</a:t>
                      </a:r>
                    </a:p>
                  </a:txBody>
                  <a:tcPr marL="45720" marR="45720" marT="27432" marB="27432">
                    <a:solidFill>
                      <a:srgbClr val="FAFAFA"/>
                    </a:solidFill>
                  </a:tcPr>
                </a:tc>
                <a:extLst>
                  <a:ext uri="{0D108BD9-81ED-4DB2-BD59-A6C34878D82A}">
                    <a16:rowId xmlns:a16="http://schemas.microsoft.com/office/drawing/2014/main" val="10006"/>
                  </a:ext>
                </a:extLst>
              </a:tr>
            </a:tbl>
          </a:graphicData>
        </a:graphic>
      </p:graphicFrame>
      <p:graphicFrame>
        <p:nvGraphicFramePr>
          <p:cNvPr id="7" name="Chart 6"/>
          <p:cNvGraphicFramePr>
            <a:graphicFrameLocks noGrp="1"/>
          </p:cNvGraphicFramePr>
          <p:nvPr>
            <p:extLst>
              <p:ext uri="{D42A27DB-BD31-4B8C-83A1-F6EECF244321}">
                <p14:modId xmlns:p14="http://schemas.microsoft.com/office/powerpoint/2010/main" val="3709704148"/>
              </p:ext>
            </p:extLst>
          </p:nvPr>
        </p:nvGraphicFramePr>
        <p:xfrm>
          <a:off x="7524750" y="992939"/>
          <a:ext cx="4297680" cy="361188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731520" y="4828187"/>
            <a:ext cx="1645920" cy="283154"/>
          </a:xfrm>
          <a:prstGeom prst="rect">
            <a:avLst/>
          </a:prstGeom>
          <a:noFill/>
        </p:spPr>
        <p:txBody>
          <a:bodyPr wrap="square" lIns="27432" tIns="18288" rIns="27432" bIns="18288" anchor="t">
            <a:spAutoFit/>
          </a:bodyPr>
          <a:lstStyle/>
          <a:p>
            <a:r>
              <a:rPr sz="1600" b="1" dirty="0">
                <a:solidFill>
                  <a:srgbClr val="287D7A"/>
                </a:solidFill>
                <a:latin typeface="Arial"/>
              </a:rPr>
              <a:t>Interpretation</a:t>
            </a:r>
          </a:p>
        </p:txBody>
      </p:sp>
      <p:sp>
        <p:nvSpPr>
          <p:cNvPr id="9" name="TextBox 8"/>
          <p:cNvSpPr txBox="1"/>
          <p:nvPr/>
        </p:nvSpPr>
        <p:spPr>
          <a:xfrm>
            <a:off x="731520" y="5158192"/>
            <a:ext cx="10607040" cy="529376"/>
          </a:xfrm>
          <a:prstGeom prst="rect">
            <a:avLst/>
          </a:prstGeom>
          <a:noFill/>
        </p:spPr>
        <p:txBody>
          <a:bodyPr wrap="square" lIns="27432" tIns="18288" rIns="27432" bIns="18288" anchor="t">
            <a:spAutoFit/>
          </a:bodyPr>
          <a:lstStyle/>
          <a:p>
            <a:r>
              <a:rPr sz="1600" b="0" dirty="0">
                <a:solidFill>
                  <a:srgbClr val="000000"/>
                </a:solidFill>
                <a:latin typeface="Arial"/>
              </a:rPr>
              <a:t>Vigorous Activity has the largest estimated effect. Calories show a small positive effect. Protein </a:t>
            </a:r>
            <a:r>
              <a:rPr lang="en-US" sz="1600" b="0" dirty="0">
                <a:solidFill>
                  <a:srgbClr val="000000"/>
                </a:solidFill>
                <a:latin typeface="Arial"/>
              </a:rPr>
              <a:t>estimate is small and positive</a:t>
            </a:r>
            <a:r>
              <a:rPr sz="1600" b="0" dirty="0">
                <a:solidFill>
                  <a:srgbClr val="000000"/>
                </a:solidFill>
                <a:latin typeface="Arial"/>
              </a:rPr>
              <a:t>. The carbohydrate estimate is small and </a:t>
            </a:r>
            <a:r>
              <a:rPr lang="en-US" sz="1600" b="0" dirty="0">
                <a:solidFill>
                  <a:srgbClr val="000000"/>
                </a:solidFill>
                <a:latin typeface="Arial"/>
              </a:rPr>
              <a:t>negative.</a:t>
            </a:r>
            <a:endParaRPr sz="1600" b="0" dirty="0">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10789920" cy="467820"/>
          </a:xfrm>
          <a:prstGeom prst="rect">
            <a:avLst/>
          </a:prstGeom>
          <a:noFill/>
        </p:spPr>
        <p:txBody>
          <a:bodyPr wrap="square" lIns="27432" tIns="18288" rIns="27432" bIns="18288" anchor="t">
            <a:spAutoFit/>
          </a:bodyPr>
          <a:lstStyle/>
          <a:p>
            <a:r>
              <a:rPr sz="2800" b="1" dirty="0">
                <a:solidFill>
                  <a:srgbClr val="17324D"/>
                </a:solidFill>
                <a:latin typeface="Arial"/>
              </a:rPr>
              <a:t>Takeaways</a:t>
            </a:r>
          </a:p>
        </p:txBody>
      </p:sp>
      <p:sp>
        <p:nvSpPr>
          <p:cNvPr id="3" name="TextBox 2"/>
          <p:cNvSpPr txBox="1"/>
          <p:nvPr/>
        </p:nvSpPr>
        <p:spPr>
          <a:xfrm>
            <a:off x="201168" y="6519672"/>
            <a:ext cx="5303520" cy="201168"/>
          </a:xfrm>
          <a:prstGeom prst="rect">
            <a:avLst/>
          </a:prstGeom>
          <a:noFill/>
        </p:spPr>
        <p:txBody>
          <a:bodyPr wrap="square" lIns="27432" tIns="18288" rIns="27432" bIns="18288" anchor="t">
            <a:spAutoFit/>
          </a:bodyPr>
          <a:lstStyle/>
          <a:p>
            <a:r>
              <a:rPr sz="800" b="0">
                <a:solidFill>
                  <a:srgbClr val="6C7075"/>
                </a:solidFill>
                <a:latin typeface="Arial"/>
              </a:rPr>
              <a:t>Conclusion</a:t>
            </a:r>
          </a:p>
        </p:txBody>
      </p:sp>
      <p:sp>
        <p:nvSpPr>
          <p:cNvPr id="4" name="TextBox 3"/>
          <p:cNvSpPr txBox="1"/>
          <p:nvPr/>
        </p:nvSpPr>
        <p:spPr>
          <a:xfrm>
            <a:off x="10195560" y="6519672"/>
            <a:ext cx="822960" cy="201168"/>
          </a:xfrm>
          <a:prstGeom prst="rect">
            <a:avLst/>
          </a:prstGeom>
          <a:noFill/>
        </p:spPr>
        <p:txBody>
          <a:bodyPr wrap="square" lIns="27432" tIns="18288" rIns="27432" bIns="18288" anchor="t">
            <a:spAutoFit/>
          </a:bodyPr>
          <a:lstStyle/>
          <a:p>
            <a:pPr algn="r"/>
            <a:r>
              <a:rPr sz="800" b="0">
                <a:solidFill>
                  <a:srgbClr val="6C7075"/>
                </a:solidFill>
                <a:latin typeface="Arial"/>
              </a:rPr>
              <a:t>03.07.2026</a:t>
            </a:r>
          </a:p>
        </p:txBody>
      </p:sp>
      <p:sp>
        <p:nvSpPr>
          <p:cNvPr id="5" name="TextBox 4"/>
          <p:cNvSpPr txBox="1"/>
          <p:nvPr/>
        </p:nvSpPr>
        <p:spPr>
          <a:xfrm>
            <a:off x="11137392" y="6519672"/>
            <a:ext cx="320040" cy="201168"/>
          </a:xfrm>
          <a:prstGeom prst="rect">
            <a:avLst/>
          </a:prstGeom>
          <a:noFill/>
        </p:spPr>
        <p:txBody>
          <a:bodyPr wrap="square" lIns="27432" tIns="18288" rIns="27432" bIns="18288" anchor="t">
            <a:spAutoFit/>
          </a:bodyPr>
          <a:lstStyle/>
          <a:p>
            <a:pPr algn="r"/>
            <a:r>
              <a:rPr sz="800" b="0">
                <a:solidFill>
                  <a:srgbClr val="6C7075"/>
                </a:solidFill>
                <a:latin typeface="Arial"/>
              </a:rPr>
              <a:t>15</a:t>
            </a:r>
          </a:p>
        </p:txBody>
      </p:sp>
      <p:sp>
        <p:nvSpPr>
          <p:cNvPr id="6" name="TextBox 5"/>
          <p:cNvSpPr txBox="1"/>
          <p:nvPr/>
        </p:nvSpPr>
        <p:spPr>
          <a:xfrm>
            <a:off x="777240" y="1102108"/>
            <a:ext cx="3657600" cy="283154"/>
          </a:xfrm>
          <a:prstGeom prst="rect">
            <a:avLst/>
          </a:prstGeom>
          <a:noFill/>
        </p:spPr>
        <p:txBody>
          <a:bodyPr wrap="square" lIns="27432" tIns="18288" rIns="27432" bIns="18288" anchor="t">
            <a:spAutoFit/>
          </a:bodyPr>
          <a:lstStyle/>
          <a:p>
            <a:r>
              <a:rPr sz="1600" b="1" dirty="0">
                <a:solidFill>
                  <a:srgbClr val="287D7A"/>
                </a:solidFill>
                <a:latin typeface="Arial"/>
              </a:rPr>
              <a:t>Main takeaways</a:t>
            </a:r>
          </a:p>
        </p:txBody>
      </p:sp>
      <p:sp>
        <p:nvSpPr>
          <p:cNvPr id="7" name="TextBox 6"/>
          <p:cNvSpPr txBox="1"/>
          <p:nvPr/>
        </p:nvSpPr>
        <p:spPr>
          <a:xfrm>
            <a:off x="777240" y="1463040"/>
            <a:ext cx="10332720" cy="947952"/>
          </a:xfrm>
          <a:prstGeom prst="rect">
            <a:avLst/>
          </a:prstGeom>
          <a:noFill/>
        </p:spPr>
        <p:txBody>
          <a:bodyPr wrap="square" lIns="45720" tIns="27432" rIns="45720" bIns="27432">
            <a:spAutoFit/>
          </a:bodyPr>
          <a:lstStyle/>
          <a:p>
            <a:pPr marL="285750" indent="-285750">
              <a:lnSpc>
                <a:spcPct val="100000"/>
              </a:lnSpc>
              <a:spcAft>
                <a:spcPts val="600"/>
              </a:spcAft>
              <a:buFont typeface="Wingdings" panose="05000000000000000000" pitchFamily="2" charset="2"/>
              <a:buChar char="§"/>
              <a:defRPr sz="1550">
                <a:solidFill>
                  <a:srgbClr val="000000"/>
                </a:solidFill>
                <a:latin typeface="Arial"/>
              </a:defRPr>
            </a:pPr>
            <a:r>
              <a:rPr sz="1600" dirty="0"/>
              <a:t>Constraints were necessary to obtain graphs compatible with the treatment-to-BMI causal questions.</a:t>
            </a:r>
          </a:p>
          <a:p>
            <a:pPr marL="285750" indent="-285750">
              <a:lnSpc>
                <a:spcPct val="100000"/>
              </a:lnSpc>
              <a:spcAft>
                <a:spcPts val="600"/>
              </a:spcAft>
              <a:buFont typeface="Wingdings" panose="05000000000000000000" pitchFamily="2" charset="2"/>
              <a:buChar char="§"/>
              <a:defRPr sz="1550">
                <a:solidFill>
                  <a:srgbClr val="000000"/>
                </a:solidFill>
                <a:latin typeface="Arial"/>
              </a:defRPr>
            </a:pPr>
            <a:r>
              <a:rPr sz="1600" dirty="0"/>
              <a:t>Strict </a:t>
            </a:r>
            <a:r>
              <a:rPr lang="en-US" sz="1600" dirty="0"/>
              <a:t>conditioning on </a:t>
            </a:r>
            <a:r>
              <a:rPr sz="1600" dirty="0" err="1"/>
              <a:t>DirectLiNGAM</a:t>
            </a:r>
            <a:r>
              <a:rPr sz="1600" dirty="0"/>
              <a:t> at threshold 0.070 balanced treatment connectivity and graph density</a:t>
            </a:r>
            <a:r>
              <a:rPr lang="en-US" sz="1600" dirty="0"/>
              <a:t>.</a:t>
            </a:r>
          </a:p>
          <a:p>
            <a:pPr marL="285750" indent="-285750">
              <a:lnSpc>
                <a:spcPct val="100000"/>
              </a:lnSpc>
              <a:spcAft>
                <a:spcPts val="600"/>
              </a:spcAft>
              <a:buFont typeface="Wingdings" panose="05000000000000000000" pitchFamily="2" charset="2"/>
              <a:buChar char="§"/>
              <a:defRPr sz="1550">
                <a:solidFill>
                  <a:srgbClr val="000000"/>
                </a:solidFill>
                <a:latin typeface="Arial"/>
              </a:defRPr>
            </a:pPr>
            <a:r>
              <a:rPr sz="1600" dirty="0"/>
              <a:t>Manual and automatic adjustment sets produced similar estimates for the selected DAG.</a:t>
            </a:r>
            <a:endParaRPr lang="en-GB" sz="1600" dirty="0"/>
          </a:p>
        </p:txBody>
      </p:sp>
      <p:sp>
        <p:nvSpPr>
          <p:cNvPr id="11" name="TextBox 10">
            <a:extLst>
              <a:ext uri="{FF2B5EF4-FFF2-40B4-BE49-F238E27FC236}">
                <a16:creationId xmlns:a16="http://schemas.microsoft.com/office/drawing/2014/main" id="{5ECBD457-8D67-54AF-95C5-930A0B7CA913}"/>
              </a:ext>
            </a:extLst>
          </p:cNvPr>
          <p:cNvSpPr txBox="1"/>
          <p:nvPr/>
        </p:nvSpPr>
        <p:spPr>
          <a:xfrm>
            <a:off x="4729809" y="4357360"/>
            <a:ext cx="2793341" cy="652486"/>
          </a:xfrm>
          <a:prstGeom prst="rect">
            <a:avLst/>
          </a:prstGeom>
          <a:noFill/>
        </p:spPr>
        <p:txBody>
          <a:bodyPr wrap="square" lIns="27432" tIns="18288" rIns="27432" bIns="18288" anchor="t">
            <a:spAutoFit/>
          </a:bodyPr>
          <a:lstStyle/>
          <a:p>
            <a:r>
              <a:rPr lang="en-US" sz="4000" b="1" dirty="0">
                <a:solidFill>
                  <a:srgbClr val="17324D"/>
                </a:solidFill>
                <a:latin typeface="Arial"/>
              </a:rPr>
              <a:t>Thank You!</a:t>
            </a:r>
            <a:endParaRPr sz="4000" b="1" dirty="0">
              <a:solidFill>
                <a:srgbClr val="17324D"/>
              </a:solidFill>
              <a:latin typeface="Arial"/>
            </a:endParaRPr>
          </a:p>
        </p:txBody>
      </p:sp>
    </p:spTree>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Präsentation2" id="{1321EF9B-D0C2-B940-BAF0-923936C95B7C}" vid="{0165591E-D8AE-AE49-AAAE-F458C46D785B}"/>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thesis-presentation</Template>
  <TotalTime>1758</TotalTime>
  <Words>1240</Words>
  <Application>Microsoft Office PowerPoint</Application>
  <PresentationFormat>Widescreen</PresentationFormat>
  <Paragraphs>308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 Antiqua</vt:lpstr>
      <vt:lpstr>Symbol</vt:lpstr>
      <vt:lpstr>Wingdings</vt:lpstr>
      <vt:lpstr>ETH Zürich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Omer Alkaya</dc:creator>
  <cp:lastModifiedBy>administrator</cp:lastModifiedBy>
  <cp:revision>160</cp:revision>
  <dcterms:created xsi:type="dcterms:W3CDTF">2025-05-11T12:54:13Z</dcterms:created>
  <dcterms:modified xsi:type="dcterms:W3CDTF">2026-07-03T17:17:23Z</dcterms:modified>
</cp:coreProperties>
</file>